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6" r:id="rId9"/>
    <p:sldId id="260" r:id="rId10"/>
    <p:sldId id="261" r:id="rId11"/>
    <p:sldId id="270" r:id="rId12"/>
    <p:sldId id="267" r:id="rId13"/>
    <p:sldId id="263" r:id="rId14"/>
    <p:sldId id="268" r:id="rId15"/>
    <p:sldId id="264" r:id="rId16"/>
    <p:sldId id="265" r:id="rId17"/>
  </p:sldIdLst>
  <p:sldSz cx="9144000" cy="5143500"/>
  <p:notesSz cx="6858000" cy="9144000"/>
  <p:embeddedFontLst>
    <p:embeddedFont>
      <p:font typeface="Segoe UI Emoji" panose="020B0502040204020203" charset="0"/>
      <p:regular r:id="rId21"/>
    </p:embeddedFont>
    <p:embeddedFont>
      <p:font typeface="Montserrat"/>
      <p:regular r:id="rId22"/>
      <p:bold r:id="rId23"/>
      <p:italic r:id="rId24"/>
      <p:boldItalic r:id="rId25"/>
    </p:embeddedFont>
    <p:embeddedFont>
      <p:font typeface="Calibri Light" panose="020F0302020204030204" charset="0"/>
      <p:regular r:id="rId26"/>
      <p:italic r:id="rId27"/>
    </p:embeddedFont>
    <p:embeddedFont>
      <p:font typeface="Calibri" panose="020F050202020403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4E8"/>
    <a:srgbClr val="8BC7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Master" Target="slideMasters/slideMaster2.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57"/>
        <p:cNvGrpSpPr/>
        <p:nvPr/>
      </p:nvGrpSpPr>
      <p:grpSpPr>
        <a:xfrm>
          <a:off x="0" y="0"/>
          <a:ext cx="0" cy="0"/>
          <a:chOff x="0" y="0"/>
          <a:chExt cx="0" cy="0"/>
        </a:xfrm>
      </p:grpSpPr>
      <p:sp>
        <p:nvSpPr>
          <p:cNvPr id="58" name="Google Shape;58;g12601cdab40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2601cdab40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g20c4033f8d1_0_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0c4033f8d1_0_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g20c4033f8d1_0_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0c4033f8d1_0_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altLang="en-US"/>
              <a:t>L</a:t>
            </a:r>
            <a:r>
              <a:rPr lang="en-US" altLang="en-US"/>
              <a:t>a page d</a:t>
            </a:r>
            <a:r>
              <a:rPr lang="fr-FR" altLang="en-US"/>
              <a:t>’</a:t>
            </a:r>
            <a:r>
              <a:rPr lang="en-US" altLang="en-US"/>
              <a:t>accueil permet de comprendre rapidement le service proposé par Qwenta</a:t>
            </a:r>
            <a:r>
              <a:rPr lang="fr-FR" altLang="en-US"/>
              <a:t>. </a:t>
            </a:r>
            <a:endParaRPr lang="en-US" altLang="en-US"/>
          </a:p>
          <a:p>
            <a:pPr marL="0" lvl="0" indent="0" algn="l" rtl="0">
              <a:spcBef>
                <a:spcPts val="0"/>
              </a:spcBef>
              <a:spcAft>
                <a:spcPts val="0"/>
              </a:spcAft>
              <a:buNone/>
            </a:pPr>
            <a:r>
              <a:rPr lang="en-US" altLang="en-US"/>
              <a:t>L</a:t>
            </a:r>
            <a:r>
              <a:rPr lang="fr-FR" altLang="en-US"/>
              <a:t>’</a:t>
            </a:r>
            <a:r>
              <a:rPr lang="en-US" altLang="en-US"/>
              <a:t>utilisateur peut se connecter directement depuis cette page via une modale, en renseignant son adresse e-mail.</a:t>
            </a:r>
            <a:r>
              <a:rPr lang="fr-FR" altLang="en-US"/>
              <a:t> </a:t>
            </a:r>
            <a:r>
              <a:rPr lang="en-US" altLang="en-US"/>
              <a:t>Un lien de connexion sécurisé lui est ensuite envoyé, sans mot de passe</a:t>
            </a:r>
            <a:r>
              <a:rPr lang="fr-FR" altLang="en-US"/>
              <a:t>.</a:t>
            </a:r>
            <a:endParaRPr lang="fr-F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1"/>
          </p:nvPr>
        </p:nvSpPr>
        <p:spPr/>
        <p:txBody>
          <a:bodyPr/>
          <a:p>
            <a:pPr marL="158750" indent="0">
              <a:buNone/>
            </a:pPr>
            <a:r>
              <a:rPr lang="fr-FR" altLang="en-US"/>
              <a:t>E</a:t>
            </a:r>
            <a:r>
              <a:rPr lang="en-US" altLang="en-US"/>
              <a:t>crans principaux utilisés par le restaurateur une fois connecté.</a:t>
            </a:r>
            <a:endParaRPr lang="en-US" altLang="en-US"/>
          </a:p>
          <a:p>
            <a:pPr marL="158750" indent="0">
              <a:buNone/>
            </a:pPr>
            <a:r>
              <a:rPr lang="en-US" altLang="en-US"/>
              <a:t>On y voit l’interface d’édition du menu, qui permet de personnaliser la mise en page et l’organisation des contenus.</a:t>
            </a:r>
            <a:endParaRPr lang="en-US" altLang="en-US"/>
          </a:p>
          <a:p>
            <a:pPr marL="158750" indent="0">
              <a:buNone/>
            </a:pPr>
            <a:r>
              <a:rPr lang="en-US" altLang="en-US"/>
              <a:t>L’ajout d’un plat se fait via une modale dédiée, dans laquelle le restaurateur renseigne les informations essentielles du plat, de mani</a:t>
            </a:r>
            <a:r>
              <a:rPr lang="en-US" altLang="en-US"/>
              <a:t>è</a:t>
            </a:r>
            <a:r>
              <a:rPr lang="en-US" altLang="en-US"/>
              <a:t>re simple et guidée.</a:t>
            </a:r>
            <a:endParaRPr lang="en-US" altLang="en-US"/>
          </a:p>
          <a:p>
            <a:pPr marL="158750" indent="0">
              <a:buNone/>
            </a:pPr>
            <a:r>
              <a:rPr lang="en-US" altLang="en-US"/>
              <a:t>Enfin, le dashboard permet d’accéder rapidement aux actions principales, comme la création, la diffusion ou l’impression du menu, et sert de point central de navigation dans l’application.</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g20c4033f8d1_0_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0c4033f8d1_0_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altLang="en-US"/>
              <a:t>La </a:t>
            </a:r>
            <a:r>
              <a:rPr lang="en-US" altLang="en-US"/>
              <a:t>méthodologie Agile</a:t>
            </a:r>
            <a:r>
              <a:rPr lang="fr-FR" altLang="en-US"/>
              <a:t> est utilisée</a:t>
            </a:r>
            <a:r>
              <a:rPr lang="en-US" altLang="en-US"/>
              <a:t> afin de découper le développement en étapes progressives et facilement ajustables.</a:t>
            </a:r>
            <a:endParaRPr lang="en-US" altLang="en-US"/>
          </a:p>
          <a:p>
            <a:pPr marL="0" lvl="0" indent="0" algn="l" rtl="0">
              <a:spcBef>
                <a:spcPts val="0"/>
              </a:spcBef>
              <a:spcAft>
                <a:spcPts val="0"/>
              </a:spcAft>
              <a:buNone/>
            </a:pPr>
            <a:r>
              <a:rPr lang="en-US" altLang="en-US"/>
              <a:t>Le projet est organisé en sprints, chacun correspondant à un ensemble de fonctionnalités prioritaires.</a:t>
            </a:r>
            <a:endParaRPr lang="en-US" altLang="en-US"/>
          </a:p>
          <a:p>
            <a:pPr marL="0" lvl="0" indent="0" algn="l" rtl="0">
              <a:spcBef>
                <a:spcPts val="0"/>
              </a:spcBef>
              <a:spcAft>
                <a:spcPts val="0"/>
              </a:spcAft>
              <a:buNone/>
            </a:pPr>
            <a:r>
              <a:rPr lang="en-US" altLang="en-US"/>
              <a:t>L’utilisation d’un tableau Kanban permet de visualiser l’avancement du projet, de suivre les user stories et de prioriser les tâches en fonction des besoins.</a:t>
            </a:r>
            <a:endParaRPr lang="en-US" altLang="en-US"/>
          </a:p>
          <a:p>
            <a:pPr marL="0" lvl="0" indent="0" algn="l" rtl="0">
              <a:spcBef>
                <a:spcPts val="0"/>
              </a:spcBef>
              <a:spcAft>
                <a:spcPts val="0"/>
              </a:spcAft>
              <a:buNone/>
            </a:pPr>
            <a:r>
              <a:rPr lang="en-US" altLang="en-US"/>
              <a:t>Cette organisation facilite la gestion du projet, tout en laissant de la flexibilité pour faire évoluer les choix au fil de l’avancement.</a:t>
            </a:r>
            <a:r>
              <a:rPr lang="fr-FR" altLang="en-US"/>
              <a:t> </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g21cd7bb48ef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1cd7bb48e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a:sym typeface="+mn-ea"/>
              </a:rPr>
              <a:t>Pour le suivi du projet, j’ai utilisé un tableau Kanban afin de visualiser l’avancement des différentes user stories.</a:t>
            </a:r>
            <a:endParaRPr lang="en-US" altLang="en-US"/>
          </a:p>
          <a:p>
            <a:pPr marL="0" lvl="0" indent="0" algn="l" rtl="0">
              <a:spcBef>
                <a:spcPts val="0"/>
              </a:spcBef>
              <a:spcAft>
                <a:spcPts val="0"/>
              </a:spcAft>
              <a:buNone/>
            </a:pPr>
            <a:r>
              <a:rPr lang="en-US" altLang="en-US">
                <a:sym typeface="+mn-ea"/>
              </a:rPr>
              <a:t>Chaque ticket correspond à une fonctionnalité du projet et contient à la fois la description, les critères de succès et les spécifications techniques associées.</a:t>
            </a:r>
            <a:endParaRPr lang="en-US" altLang="en-US"/>
          </a:p>
          <a:p>
            <a:pPr marL="0" lvl="0" indent="0" algn="l" rtl="0">
              <a:spcBef>
                <a:spcPts val="0"/>
              </a:spcBef>
              <a:spcAft>
                <a:spcPts val="0"/>
              </a:spcAft>
              <a:buNone/>
            </a:pPr>
            <a:r>
              <a:rPr lang="en-US" altLang="en-US"/>
              <a:t>Cela permet d’avoir une vision claire de l’avancement et de mieux coordonner le travail de l’équipe.</a:t>
            </a:r>
            <a:endParaRPr lang="en-US" altLang="en-US"/>
          </a:p>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1"/>
          </p:nvPr>
        </p:nvSpPr>
        <p:spPr/>
        <p:txBody>
          <a:bodyPr/>
          <a:p>
            <a:r>
              <a:rPr lang="en-US" altLang="en-US"/>
              <a:t>Les choix techniques visent une application simple, moderne et maintenable</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1"/>
          </p:nvPr>
        </p:nvSpPr>
        <p:spPr/>
        <p:txBody>
          <a:bodyPr/>
          <a:p>
            <a:pPr marL="158750" indent="0">
              <a:buNone/>
            </a:pPr>
            <a:r>
              <a:rPr lang="fr-FR" altLang="en-US"/>
              <a:t>G</a:t>
            </a:r>
            <a:r>
              <a:rPr lang="en-US" altLang="en-US"/>
              <a:t>estion des catégories et des plats pérenne et propre à chaque restaurateur.</a:t>
            </a:r>
            <a:r>
              <a:rPr lang="fr-FR" altLang="en-US"/>
              <a:t> </a:t>
            </a:r>
            <a:r>
              <a:rPr lang="en-US" altLang="en-US"/>
              <a:t>Ce schéma illustre le fonctionnement global : les données saisies côté front sont envoyées au backend, stockées en base de données, puis récupérées pour l’affichage des menus selon l’utilisateur connecté.</a:t>
            </a:r>
            <a:endParaRPr lang="en-US" altLang="en-US"/>
          </a:p>
          <a:p>
            <a:pPr marL="158750" indent="0">
              <a:buNone/>
            </a:pPr>
            <a:r>
              <a:rPr lang="en-US" altLang="en-US"/>
              <a:t>Cette organisation permet permet une organisation souple des menus, qui peut évoluer dans le temps selon les besoins du restaurateur.</a:t>
            </a:r>
            <a:endParaRPr lang="en-US" altLang="en-US"/>
          </a:p>
          <a:p>
            <a:pPr marL="158750" indent="0">
              <a:buNone/>
            </a:pPr>
            <a:r>
              <a:rPr lang="en-US" altLang="en-US"/>
              <a:t>Les photos sont gérées séparément et liées aux plats via une URL, ce qui évite de surcharger les données du menu.</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07"/>
        <p:cNvGrpSpPr/>
        <p:nvPr/>
      </p:nvGrpSpPr>
      <p:grpSpPr>
        <a:xfrm>
          <a:off x="0" y="0"/>
          <a:ext cx="0" cy="0"/>
          <a:chOff x="0" y="0"/>
          <a:chExt cx="0" cy="0"/>
        </a:xfrm>
      </p:grpSpPr>
      <p:sp>
        <p:nvSpPr>
          <p:cNvPr id="108" name="Google Shape;108;g218b606cc07_1_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18b606cc07_1_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en-US"/>
          </a:p>
          <a:p>
            <a:pPr marL="0" lvl="0" indent="0" algn="l" rtl="0">
              <a:spcBef>
                <a:spcPts val="0"/>
              </a:spcBef>
              <a:spcAft>
                <a:spcPts val="0"/>
              </a:spcAft>
              <a:buNone/>
            </a:pPr>
            <a:r>
              <a:rPr lang="en-US" altLang="en-US"/>
              <a:t>La veille liée au projet a permis d’éclairer des choix comme l’architecture de l’application, l’utilisation d’une base NoSQL ou encore le mode d’authentification.</a:t>
            </a:r>
            <a:endParaRPr lang="en-US" altLang="en-US"/>
          </a:p>
          <a:p>
            <a:pPr marL="0" lvl="0" indent="0" algn="l" rtl="0">
              <a:spcBef>
                <a:spcPts val="0"/>
              </a:spcBef>
              <a:spcAft>
                <a:spcPts val="0"/>
              </a:spcAft>
              <a:buNone/>
            </a:pPr>
            <a:r>
              <a:rPr lang="en-US" altLang="en-US"/>
              <a:t>La veille plus générale a contribué à structurer la gestion de projet et à adopter de bonnes pratiques.</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1"/>
          </p:nvPr>
        </p:nvSpPr>
        <p:spPr/>
        <p:txBody>
          <a:bodyPr/>
          <a:p>
            <a:r>
              <a:rPr lang="en-US" altLang="en-US"/>
              <a:t>Par exemple, la veille autour de l’authentification sans mot de passe a conduit au choix d’une connexion par lien e-mail, plus simple pour les restaurateurs.</a:t>
            </a: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g2c2bf8da8be_0_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c2bf8da8be_0_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g2c2bf8da8be_0_1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2bf8da8be_0_1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7"/>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1878806"/>
            <a:ext cx="3868340"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1878806"/>
            <a:ext cx="3887391"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sv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4E8">
            <a:alpha val="39000"/>
          </a:srgbClr>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US"/>
            </a:fld>
            <a:endParaRPr lang="en-US"/>
          </a:p>
        </p:txBody>
      </p:sp>
      <p:sp>
        <p:nvSpPr>
          <p:cNvPr id="70" name="Google Shape;70;p15"/>
          <p:cNvSpPr/>
          <p:nvPr userDrawn="1"/>
        </p:nvSpPr>
        <p:spPr>
          <a:xfrm>
            <a:off x="810895" y="0"/>
            <a:ext cx="8337550" cy="239395"/>
          </a:xfrm>
          <a:prstGeom prst="rect">
            <a:avLst/>
          </a:prstGeom>
          <a:solidFill>
            <a:srgbClr val="8BC7B1"/>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pic>
        <p:nvPicPr>
          <p:cNvPr id="71" name="Google Shape;71;p15"/>
          <p:cNvPicPr preferRelativeResize="0"/>
          <p:nvPr userDrawn="1"/>
        </p:nvPicPr>
        <p:blipFill>
          <a:blip r:embed="rId12"/>
          <a:stretch>
            <a:fillRect/>
          </a:stretch>
        </p:blipFill>
        <p:spPr>
          <a:xfrm>
            <a:off x="8474375" y="-4"/>
            <a:ext cx="674425" cy="340550"/>
          </a:xfrm>
          <a:prstGeom prst="rect">
            <a:avLst/>
          </a:prstGeom>
          <a:noFill/>
          <a:ln>
            <a:noFill/>
          </a:ln>
        </p:spPr>
      </p:pic>
      <p:pic>
        <p:nvPicPr>
          <p:cNvPr id="1" name="Picture 0" descr="Group 1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76835" y="8255"/>
            <a:ext cx="673200" cy="270162"/>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4E8">
            <a:alpha val="39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hyperlink" Target="https://www.notion.so/2c6ffc757fd88080af73f412ed4c33c4?v=2c6ffc757fd880eabca5000c6a59cbd5&#13;" TargetMode="Externa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nvSpPr>
        <p:spPr>
          <a:xfrm>
            <a:off x="2500115" y="3704755"/>
            <a:ext cx="4222200" cy="80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600">
                <a:solidFill>
                  <a:schemeClr val="dk1"/>
                </a:solidFill>
                <a:latin typeface="Segoe UI Emoji" panose="020B0502040204020203" charset="0"/>
                <a:ea typeface="Montserrat"/>
                <a:cs typeface="Segoe UI Emoji" panose="020B0502040204020203" charset="0"/>
                <a:sym typeface="Montserrat"/>
              </a:rPr>
              <a:t>PRÉSENTATION</a:t>
            </a:r>
            <a:br>
              <a:rPr lang="en-US" sz="3500">
                <a:solidFill>
                  <a:schemeClr val="dk1"/>
                </a:solidFill>
                <a:latin typeface="Segoe UI Emoji" panose="020B0502040204020203" charset="0"/>
                <a:ea typeface="Montserrat"/>
                <a:cs typeface="Segoe UI Emoji" panose="020B0502040204020203" charset="0"/>
                <a:sym typeface="Montserrat"/>
              </a:rPr>
            </a:br>
            <a:br>
              <a:rPr lang="en-US" sz="3500">
                <a:solidFill>
                  <a:schemeClr val="dk1"/>
                </a:solidFill>
                <a:latin typeface="Segoe UI Emoji" panose="020B0502040204020203" charset="0"/>
                <a:ea typeface="Montserrat"/>
                <a:cs typeface="Segoe UI Emoji" panose="020B0502040204020203" charset="0"/>
                <a:sym typeface="Montserrat"/>
              </a:rPr>
            </a:br>
            <a:endParaRPr lang="fr-FR" sz="3100" b="1">
              <a:solidFill>
                <a:schemeClr val="dk1"/>
              </a:solidFill>
              <a:latin typeface="Segoe UI Emoji" panose="020B0502040204020203" charset="0"/>
              <a:ea typeface="Montserrat"/>
              <a:cs typeface="Segoe UI Emoji" panose="020B0502040204020203" charset="0"/>
              <a:sym typeface="Montserrat"/>
            </a:endParaRPr>
          </a:p>
        </p:txBody>
      </p:sp>
      <p:sp>
        <p:nvSpPr>
          <p:cNvPr id="55" name="Google Shape;55;p13"/>
          <p:cNvSpPr txBox="1"/>
          <p:nvPr/>
        </p:nvSpPr>
        <p:spPr>
          <a:xfrm>
            <a:off x="115175" y="118910"/>
            <a:ext cx="238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altLang="en-US" sz="1600">
                <a:solidFill>
                  <a:schemeClr val="dk1"/>
                </a:solidFill>
                <a:latin typeface="Segoe UI Emoji" panose="020B0502040204020203" charset="0"/>
                <a:ea typeface="Montserrat"/>
                <a:cs typeface="Segoe UI Emoji" panose="020B0502040204020203" charset="0"/>
                <a:sym typeface="Montserrat"/>
              </a:rPr>
              <a:t>MERLIN, Angela</a:t>
            </a:r>
            <a:br>
              <a:rPr lang="en-US" sz="1600">
                <a:solidFill>
                  <a:schemeClr val="dk1"/>
                </a:solidFill>
                <a:latin typeface="Segoe UI Emoji" panose="020B0502040204020203" charset="0"/>
                <a:ea typeface="Montserrat"/>
                <a:cs typeface="Segoe UI Emoji" panose="020B0502040204020203" charset="0"/>
                <a:sym typeface="Montserrat"/>
              </a:rPr>
            </a:br>
            <a:r>
              <a:rPr lang="fr-FR" sz="1600">
                <a:solidFill>
                  <a:schemeClr val="dk1"/>
                </a:solidFill>
                <a:latin typeface="Segoe UI Emoji" panose="020B0502040204020203" charset="0"/>
                <a:ea typeface="Montserrat"/>
                <a:cs typeface="Segoe UI Emoji" panose="020B0502040204020203" charset="0"/>
                <a:sym typeface="Montserrat"/>
              </a:rPr>
              <a:t>02/01/2026</a:t>
            </a:r>
            <a:endParaRPr lang="fr-FR" sz="1600">
              <a:solidFill>
                <a:schemeClr val="dk1"/>
              </a:solidFill>
              <a:latin typeface="Segoe UI Emoji" panose="020B0502040204020203" charset="0"/>
              <a:ea typeface="Montserrat"/>
              <a:cs typeface="Segoe UI Emoji" panose="020B0502040204020203" charset="0"/>
              <a:sym typeface="Montserrat"/>
            </a:endParaRPr>
          </a:p>
        </p:txBody>
      </p:sp>
      <p:pic>
        <p:nvPicPr>
          <p:cNvPr id="56" name="Google Shape;56;p13"/>
          <p:cNvPicPr preferRelativeResize="0"/>
          <p:nvPr/>
        </p:nvPicPr>
        <p:blipFill>
          <a:blip r:embed="rId1"/>
          <a:stretch>
            <a:fillRect/>
          </a:stretch>
        </p:blipFill>
        <p:spPr>
          <a:xfrm>
            <a:off x="8469575" y="0"/>
            <a:ext cx="674425" cy="340550"/>
          </a:xfrm>
          <a:prstGeom prst="rect">
            <a:avLst/>
          </a:prstGeom>
          <a:noFill/>
          <a:ln>
            <a:noFill/>
          </a:ln>
        </p:spPr>
      </p:pic>
      <p:pic>
        <p:nvPicPr>
          <p:cNvPr id="3" name="Picture 2" descr="Group 1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71930" y="1562100"/>
            <a:ext cx="6200140" cy="21424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sz="4000">
                <a:latin typeface="Segoe UI Emoji" panose="020B0502040204020203" charset="0"/>
                <a:ea typeface="Montserrat"/>
                <a:cs typeface="Segoe UI Emoji" panose="020B0502040204020203" charset="0"/>
                <a:sym typeface="Montserrat"/>
              </a:rPr>
              <a:t>Sommaire</a:t>
            </a:r>
            <a:endParaRPr sz="4000">
              <a:latin typeface="Segoe UI Emoji" panose="020B0502040204020203" charset="0"/>
              <a:ea typeface="Montserrat"/>
              <a:cs typeface="Segoe UI Emoji" panose="020B0502040204020203" charset="0"/>
              <a:sym typeface="Montserrat"/>
            </a:endParaRPr>
          </a:p>
        </p:txBody>
      </p:sp>
      <p:sp>
        <p:nvSpPr>
          <p:cNvPr id="62" name="Google Shape;62;p1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150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Contexte du projet</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Aperçu de la maquette</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Méthodologie utilisée</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Tableau Kanban</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Spécifications techniques</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Veille technologique</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Conclusion </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en-US" sz="1600">
                <a:solidFill>
                  <a:srgbClr val="0D0D0D"/>
                </a:solidFill>
                <a:latin typeface="Segoe UI Emoji" panose="020B0502040204020203" charset="0"/>
                <a:ea typeface="Montserrat"/>
                <a:cs typeface="Segoe UI Emoji" panose="020B0502040204020203" charset="0"/>
                <a:sym typeface="Montserrat"/>
              </a:rPr>
              <a:t>Questions</a:t>
            </a:r>
            <a:endParaRPr sz="1600">
              <a:solidFill>
                <a:srgbClr val="0D0D0D"/>
              </a:solidFill>
              <a:latin typeface="Segoe UI Emoji" panose="020B0502040204020203" charset="0"/>
              <a:ea typeface="Montserrat"/>
              <a:cs typeface="Segoe UI Emoji" panose="020B0502040204020203" charset="0"/>
              <a:sym typeface="Montserrat"/>
            </a:endParaRPr>
          </a:p>
          <a:p>
            <a:pPr marL="457200" lvl="0" indent="0" algn="l" rtl="0">
              <a:spcBef>
                <a:spcPts val="0"/>
              </a:spcBef>
              <a:spcAft>
                <a:spcPts val="0"/>
              </a:spcAft>
              <a:buNone/>
            </a:pPr>
            <a:endParaRPr sz="1600">
              <a:solidFill>
                <a:srgbClr val="0D0D0D"/>
              </a:solidFill>
              <a:latin typeface="Segoe UI Emoji" panose="020B0502040204020203" charset="0"/>
              <a:ea typeface="Montserrat"/>
              <a:cs typeface="Segoe UI Emoji" panose="020B0502040204020203" charset="0"/>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sp>
        <p:nvSpPr>
          <p:cNvPr id="69" name="Google Shape;69;p15"/>
          <p:cNvSpPr txBox="1"/>
          <p:nvPr/>
        </p:nvSpPr>
        <p:spPr>
          <a:xfrm>
            <a:off x="411280" y="847400"/>
            <a:ext cx="8320500" cy="3291840"/>
          </a:xfrm>
          <a:prstGeom prst="rect">
            <a:avLst/>
          </a:prstGeom>
          <a:noFill/>
          <a:ln>
            <a:noFill/>
          </a:ln>
        </p:spPr>
        <p:txBody>
          <a:bodyPr spcFirstLastPara="1" wrap="square" lIns="91425" tIns="91425" rIns="91425" bIns="91425" anchor="t" anchorCtr="0">
            <a:spAutoFit/>
          </a:bodyPr>
          <a:lstStyle/>
          <a:p>
            <a:pPr marL="133350" lvl="0" indent="457200" algn="l" rtl="0">
              <a:lnSpc>
                <a:spcPct val="115000"/>
              </a:lnSpc>
              <a:spcBef>
                <a:spcPts val="0"/>
              </a:spcBef>
              <a:spcAft>
                <a:spcPts val="0"/>
              </a:spcAft>
              <a:buClr>
                <a:schemeClr val="dk1"/>
              </a:buClr>
              <a:buSzPts val="1500"/>
              <a:buNone/>
            </a:pPr>
            <a:r>
              <a:rPr lang="en-US" altLang="en-US" sz="1600">
                <a:latin typeface="Segoe UI Emoji" panose="020B0502040204020203" charset="0"/>
                <a:cs typeface="Segoe UI Emoji" panose="020B0502040204020203" charset="0"/>
              </a:rPr>
              <a:t>Dans une démarche de diversification de ses activités, Qwenta, acteur historique de l’impression de supports professionnels, souhaite proposer à ses clients restaurateurs une nouvelle solution en ligne nommée Menu Maker.</a:t>
            </a:r>
            <a:endParaRPr lang="en-US" altLang="en-US" sz="1600">
              <a:latin typeface="Segoe UI Emoji" panose="020B0502040204020203" charset="0"/>
              <a:cs typeface="Segoe UI Emoji" panose="020B0502040204020203" charset="0"/>
            </a:endParaRPr>
          </a:p>
          <a:p>
            <a:pPr marL="133350" lvl="0" indent="457200" algn="l" rtl="0">
              <a:lnSpc>
                <a:spcPct val="115000"/>
              </a:lnSpc>
              <a:spcBef>
                <a:spcPts val="0"/>
              </a:spcBef>
              <a:spcAft>
                <a:spcPts val="0"/>
              </a:spcAft>
              <a:buClr>
                <a:schemeClr val="dk1"/>
              </a:buClr>
              <a:buSzPts val="1500"/>
              <a:buNone/>
            </a:pPr>
            <a:endParaRPr lang="en-US" altLang="en-US" sz="1600">
              <a:latin typeface="Segoe UI Emoji" panose="020B0502040204020203" charset="0"/>
              <a:cs typeface="Segoe UI Emoji" panose="020B0502040204020203" charset="0"/>
            </a:endParaRPr>
          </a:p>
          <a:p>
            <a:pPr marL="133350" lvl="0" indent="457200" algn="l" rtl="0">
              <a:lnSpc>
                <a:spcPct val="115000"/>
              </a:lnSpc>
              <a:spcBef>
                <a:spcPts val="0"/>
              </a:spcBef>
              <a:spcAft>
                <a:spcPts val="0"/>
              </a:spcAft>
              <a:buClr>
                <a:schemeClr val="dk1"/>
              </a:buClr>
              <a:buSzPts val="1500"/>
              <a:buNone/>
            </a:pPr>
            <a:r>
              <a:rPr lang="en-US" altLang="en-US" sz="1600">
                <a:latin typeface="Segoe UI Emoji" panose="020B0502040204020203" charset="0"/>
                <a:cs typeface="Segoe UI Emoji" panose="020B0502040204020203" charset="0"/>
              </a:rPr>
              <a:t>Cette solution permet aux restaurateurs de créer et de personnaliser leurs menus en toute autonomie.</a:t>
            </a:r>
            <a:endParaRPr lang="en-US" altLang="en-US" sz="1600">
              <a:latin typeface="Segoe UI Emoji" panose="020B0502040204020203" charset="0"/>
              <a:cs typeface="Segoe UI Emoji" panose="020B0502040204020203" charset="0"/>
            </a:endParaRPr>
          </a:p>
          <a:p>
            <a:pPr marL="133350" lvl="0" indent="0" algn="l" rtl="0">
              <a:lnSpc>
                <a:spcPct val="115000"/>
              </a:lnSpc>
              <a:spcBef>
                <a:spcPts val="0"/>
              </a:spcBef>
              <a:spcAft>
                <a:spcPts val="0"/>
              </a:spcAft>
              <a:buClr>
                <a:schemeClr val="dk1"/>
              </a:buClr>
              <a:buSzPts val="1500"/>
              <a:buNone/>
            </a:pPr>
            <a:endParaRPr lang="en-US" altLang="en-US" sz="1600">
              <a:latin typeface="Segoe UI Emoji" panose="020B0502040204020203" charset="0"/>
              <a:cs typeface="Segoe UI Emoji" panose="020B0502040204020203" charset="0"/>
            </a:endParaRPr>
          </a:p>
          <a:p>
            <a:pPr marL="133350" lvl="0" indent="457200" algn="l" rtl="0">
              <a:lnSpc>
                <a:spcPct val="115000"/>
              </a:lnSpc>
              <a:spcBef>
                <a:spcPts val="0"/>
              </a:spcBef>
              <a:spcAft>
                <a:spcPts val="0"/>
              </a:spcAft>
              <a:buClr>
                <a:schemeClr val="dk1"/>
              </a:buClr>
              <a:buSzPts val="1500"/>
              <a:buNone/>
            </a:pPr>
            <a:r>
              <a:rPr lang="en-US" altLang="en-US" sz="1600">
                <a:latin typeface="Segoe UI Emoji" panose="020B0502040204020203" charset="0"/>
                <a:cs typeface="Segoe UI Emoji" panose="020B0502040204020203" charset="0"/>
              </a:rPr>
              <a:t>Menu Maker facilite l’ajout et l’organisation des plats et des boissons, ainsi que la diffusion des menus sur différents supports, qu’il s’agisse d’une impression papier ou d’une publication en ligne via les réseaux sociaux et les plateformes de commande en ligne.</a:t>
            </a:r>
            <a:endParaRPr lang="en-US" altLang="en-US" sz="1600">
              <a:latin typeface="Segoe UI Emoji" panose="020B0502040204020203" charset="0"/>
              <a:cs typeface="Segoe UI Emoji"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5" name="Shape 75"/>
        <p:cNvGrpSpPr/>
        <p:nvPr/>
      </p:nvGrpSpPr>
      <p:grpSpPr>
        <a:xfrm>
          <a:off x="0" y="0"/>
          <a:ext cx="0" cy="0"/>
          <a:chOff x="0" y="0"/>
          <a:chExt cx="0" cy="0"/>
        </a:xfrm>
      </p:grpSpPr>
      <p:sp>
        <p:nvSpPr>
          <p:cNvPr id="77" name="Google Shape;77;p16"/>
          <p:cNvSpPr txBox="1"/>
          <p:nvPr>
            <p:ph type="body" idx="1"/>
          </p:nvPr>
        </p:nvSpPr>
        <p:spPr>
          <a:xfrm>
            <a:off x="187960" y="1786255"/>
            <a:ext cx="4002405" cy="2927985"/>
          </a:xfrm>
          <a:prstGeom prst="rect">
            <a:avLst/>
          </a:prstGeom>
        </p:spPr>
        <p:txBody>
          <a:bodyPr spcFirstLastPara="1" wrap="square" lIns="91425" tIns="91425" rIns="91425" bIns="91425" anchor="t" anchorCtr="0">
            <a:normAutofit/>
          </a:bodyPr>
          <a:lstStyle/>
          <a:p>
            <a:pPr marL="133350" lvl="0" indent="457200" algn="l" rtl="0">
              <a:lnSpc>
                <a:spcPct val="150000"/>
              </a:lnSpc>
              <a:spcBef>
                <a:spcPts val="0"/>
              </a:spcBef>
              <a:spcAft>
                <a:spcPts val="0"/>
              </a:spcAft>
              <a:buClr>
                <a:srgbClr val="0D0D0D"/>
              </a:buClr>
              <a:buSzPts val="1500"/>
              <a:buNone/>
            </a:pPr>
            <a:r>
              <a:rPr lang="en-US" altLang="en-US" sz="1600">
                <a:solidFill>
                  <a:schemeClr val="tx1"/>
                </a:solidFill>
                <a:latin typeface="Segoe UI Emoji" panose="020B0502040204020203" charset="0"/>
                <a:ea typeface="Montserrat"/>
                <a:cs typeface="Segoe UI Emoji" panose="020B0502040204020203" charset="0"/>
                <a:sym typeface="Montserrat"/>
              </a:rPr>
              <a:t>Cette maquette présente la page d’accueil de Menu Maker ainsi que la modale de connexion, point d’entrée principal permettant au restaurateur d’accéder à l’application.</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457200" lvl="0" indent="0" algn="l" rtl="0">
              <a:spcBef>
                <a:spcPts val="1200"/>
              </a:spcBef>
              <a:spcAft>
                <a:spcPts val="1200"/>
              </a:spcAft>
              <a:buNone/>
            </a:pPr>
            <a:endParaRPr lang="en-US" altLang="en-US" sz="1600">
              <a:solidFill>
                <a:schemeClr val="tx1"/>
              </a:solidFill>
              <a:latin typeface="Segoe UI Emoji" panose="020B0502040204020203" charset="0"/>
              <a:ea typeface="Montserrat"/>
              <a:cs typeface="Segoe UI Emoji" panose="020B0502040204020203" charset="0"/>
              <a:sym typeface="Montserrat"/>
            </a:endParaRPr>
          </a:p>
        </p:txBody>
      </p:sp>
      <p:pic>
        <p:nvPicPr>
          <p:cNvPr id="3" name="Picture 2"/>
          <p:cNvPicPr>
            <a:picLocks noChangeAspect="1"/>
          </p:cNvPicPr>
          <p:nvPr/>
        </p:nvPicPr>
        <p:blipFill>
          <a:blip r:embed="rId1"/>
          <a:stretch>
            <a:fillRect/>
          </a:stretch>
        </p:blipFill>
        <p:spPr>
          <a:xfrm>
            <a:off x="4190365" y="441325"/>
            <a:ext cx="3075305" cy="4561840"/>
          </a:xfrm>
          <a:prstGeom prst="rect">
            <a:avLst/>
          </a:prstGeom>
        </p:spPr>
      </p:pic>
      <p:pic>
        <p:nvPicPr>
          <p:cNvPr id="2" name="Picture 1"/>
          <p:cNvPicPr>
            <a:picLocks noChangeAspect="1"/>
          </p:cNvPicPr>
          <p:nvPr/>
        </p:nvPicPr>
        <p:blipFill>
          <a:blip r:embed="rId2"/>
          <a:stretch>
            <a:fillRect/>
          </a:stretch>
        </p:blipFill>
        <p:spPr>
          <a:xfrm>
            <a:off x="7348855" y="1542415"/>
            <a:ext cx="1348740" cy="2491740"/>
          </a:xfrm>
          <a:prstGeom prst="rect">
            <a:avLst/>
          </a:prstGeom>
        </p:spPr>
      </p:pic>
      <p:sp>
        <p:nvSpPr>
          <p:cNvPr id="4" name="Text Box 3"/>
          <p:cNvSpPr txBox="1"/>
          <p:nvPr/>
        </p:nvSpPr>
        <p:spPr>
          <a:xfrm>
            <a:off x="420370" y="604520"/>
            <a:ext cx="3048000" cy="768350"/>
          </a:xfrm>
          <a:prstGeom prst="rect">
            <a:avLst/>
          </a:prstGeom>
          <a:noFill/>
        </p:spPr>
        <p:txBody>
          <a:bodyPr wrap="square" rtlCol="0">
            <a:spAutoFit/>
          </a:bodyPr>
          <a:p>
            <a:r>
              <a:rPr lang="fr-FR" altLang="en-US" sz="2200">
                <a:latin typeface="Segoe UI Emoji" panose="020B0502040204020203" charset="0"/>
                <a:cs typeface="Segoe UI Emoji" panose="020B0502040204020203" charset="0"/>
              </a:rPr>
              <a:t>MenuMaker -</a:t>
            </a:r>
            <a:endParaRPr lang="fr-FR" altLang="en-US" sz="2200">
              <a:latin typeface="Segoe UI Emoji" panose="020B0502040204020203" charset="0"/>
              <a:cs typeface="Segoe UI Emoji" panose="020B0502040204020203" charset="0"/>
            </a:endParaRPr>
          </a:p>
          <a:p>
            <a:r>
              <a:rPr lang="fr-FR" altLang="en-US" sz="2200">
                <a:latin typeface="Segoe UI Emoji" panose="020B0502040204020203" charset="0"/>
                <a:cs typeface="Segoe UI Emoji" panose="020B0502040204020203" charset="0"/>
              </a:rPr>
              <a:t>page d’accueil</a:t>
            </a:r>
            <a:endParaRPr lang="fr-FR" altLang="en-US" sz="2200">
              <a:latin typeface="Segoe UI Emoji" panose="020B0502040204020203" charset="0"/>
              <a:cs typeface="Segoe UI Emoji" panose="020B05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481330" y="445135"/>
            <a:ext cx="4085590" cy="572770"/>
          </a:xfrm>
        </p:spPr>
        <p:txBody>
          <a:bodyPr>
            <a:normAutofit fontScale="90000"/>
          </a:bodyPr>
          <a:p>
            <a:r>
              <a:rPr lang="en-US" altLang="en-US" sz="2445">
                <a:latin typeface="Segoe UI Emoji" panose="020B0502040204020203" charset="0"/>
                <a:cs typeface="Segoe UI Emoji" panose="020B0502040204020203" charset="0"/>
              </a:rPr>
              <a:t>Création et gestion du menu</a:t>
            </a:r>
            <a:endParaRPr lang="en-US" altLang="en-US" sz="2445">
              <a:latin typeface="Segoe UI Emoji" panose="020B0502040204020203" charset="0"/>
              <a:cs typeface="Segoe UI Emoji" panose="020B0502040204020203" charset="0"/>
            </a:endParaRPr>
          </a:p>
        </p:txBody>
      </p:sp>
      <p:sp>
        <p:nvSpPr>
          <p:cNvPr id="3" name="Text Placeholder 2"/>
          <p:cNvSpPr/>
          <p:nvPr>
            <p:ph type="body" idx="1"/>
          </p:nvPr>
        </p:nvSpPr>
        <p:spPr>
          <a:xfrm>
            <a:off x="311785" y="1152525"/>
            <a:ext cx="8520430" cy="751205"/>
          </a:xfrm>
        </p:spPr>
        <p:txBody>
          <a:bodyPr/>
          <a:p>
            <a:pPr marL="114300" indent="457200">
              <a:buNone/>
            </a:pPr>
            <a:r>
              <a:rPr lang="fr-FR" altLang="en-US" sz="1600">
                <a:solidFill>
                  <a:schemeClr val="tx1"/>
                </a:solidFill>
                <a:latin typeface="Segoe UI Emoji" panose="020B0502040204020203" charset="0"/>
                <a:cs typeface="Segoe UI Emoji" panose="020B0502040204020203" charset="0"/>
              </a:rPr>
              <a:t>P</a:t>
            </a:r>
            <a:r>
              <a:rPr lang="en-US" altLang="en-US" sz="1600">
                <a:solidFill>
                  <a:schemeClr val="tx1"/>
                </a:solidFill>
                <a:latin typeface="Segoe UI Emoji" panose="020B0502040204020203" charset="0"/>
                <a:cs typeface="Segoe UI Emoji" panose="020B0502040204020203" charset="0"/>
              </a:rPr>
              <a:t>rincipales fonctionnalités de Menu Maker, de l’édition du menu à la gestion des plats, jusqu’au tableau de bord du restaurateur</a:t>
            </a:r>
            <a:endParaRPr lang="en-US" altLang="en-US" sz="1600">
              <a:solidFill>
                <a:schemeClr val="tx1"/>
              </a:solidFill>
              <a:latin typeface="Segoe UI Emoji" panose="020B0502040204020203" charset="0"/>
              <a:cs typeface="Segoe UI Emoji" panose="020B0502040204020203" charset="0"/>
            </a:endParaRPr>
          </a:p>
        </p:txBody>
      </p:sp>
      <p:pic>
        <p:nvPicPr>
          <p:cNvPr id="4" name="Picture 3"/>
          <p:cNvPicPr>
            <a:picLocks noChangeAspect="1"/>
          </p:cNvPicPr>
          <p:nvPr/>
        </p:nvPicPr>
        <p:blipFill>
          <a:blip r:embed="rId1"/>
          <a:stretch>
            <a:fillRect/>
          </a:stretch>
        </p:blipFill>
        <p:spPr>
          <a:xfrm>
            <a:off x="5446395" y="2182495"/>
            <a:ext cx="3314700" cy="2377440"/>
          </a:xfrm>
          <a:prstGeom prst="rect">
            <a:avLst/>
          </a:prstGeom>
        </p:spPr>
      </p:pic>
      <p:pic>
        <p:nvPicPr>
          <p:cNvPr id="5" name="Picture 4"/>
          <p:cNvPicPr>
            <a:picLocks noChangeAspect="1"/>
          </p:cNvPicPr>
          <p:nvPr/>
        </p:nvPicPr>
        <p:blipFill>
          <a:blip r:embed="rId2"/>
          <a:stretch>
            <a:fillRect/>
          </a:stretch>
        </p:blipFill>
        <p:spPr>
          <a:xfrm>
            <a:off x="427990" y="2191385"/>
            <a:ext cx="3360420" cy="2339340"/>
          </a:xfrm>
          <a:prstGeom prst="rect">
            <a:avLst/>
          </a:prstGeom>
        </p:spPr>
      </p:pic>
      <p:pic>
        <p:nvPicPr>
          <p:cNvPr id="6" name="Picture 5"/>
          <p:cNvPicPr>
            <a:picLocks noChangeAspect="1"/>
          </p:cNvPicPr>
          <p:nvPr/>
        </p:nvPicPr>
        <p:blipFill>
          <a:blip r:embed="rId3"/>
          <a:stretch>
            <a:fillRect/>
          </a:stretch>
        </p:blipFill>
        <p:spPr>
          <a:xfrm>
            <a:off x="3970020" y="2871470"/>
            <a:ext cx="1306195" cy="1546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7"/>
          <p:cNvSpPr txBox="1"/>
          <p:nvPr>
            <p:ph type="title"/>
          </p:nvPr>
        </p:nvSpPr>
        <p:spPr>
          <a:xfrm>
            <a:off x="470535" y="445135"/>
            <a:ext cx="5095875" cy="57277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US" sz="2200">
                <a:solidFill>
                  <a:schemeClr val="tx1"/>
                </a:solidFill>
                <a:latin typeface="Segoe UI Emoji" panose="020B0502040204020203" charset="0"/>
                <a:ea typeface="Montserrat"/>
                <a:cs typeface="Segoe UI Emoji" panose="020B0502040204020203" charset="0"/>
                <a:sym typeface="Montserrat"/>
              </a:rPr>
              <a:t>Méthodologie </a:t>
            </a:r>
            <a:r>
              <a:rPr lang="fr-FR" altLang="en-US" sz="2200">
                <a:solidFill>
                  <a:schemeClr val="tx1"/>
                </a:solidFill>
                <a:latin typeface="Segoe UI Emoji" panose="020B0502040204020203" charset="0"/>
                <a:ea typeface="Montserrat"/>
                <a:cs typeface="Segoe UI Emoji" panose="020B0502040204020203" charset="0"/>
                <a:sym typeface="Montserrat"/>
              </a:rPr>
              <a:t>Agile et Scrum</a:t>
            </a:r>
            <a:endParaRPr lang="fr-FR" altLang="en-US" sz="2200">
              <a:solidFill>
                <a:schemeClr val="tx1"/>
              </a:solidFill>
              <a:latin typeface="Segoe UI Emoji" panose="020B0502040204020203" charset="0"/>
              <a:ea typeface="Montserrat"/>
              <a:cs typeface="Segoe UI Emoji" panose="020B0502040204020203" charset="0"/>
              <a:sym typeface="Montserrat"/>
            </a:endParaRPr>
          </a:p>
        </p:txBody>
      </p:sp>
      <p:sp>
        <p:nvSpPr>
          <p:cNvPr id="85" name="Google Shape;85;p17"/>
          <p:cNvSpPr txBox="1"/>
          <p:nvPr>
            <p:ph type="body" idx="1"/>
          </p:nvPr>
        </p:nvSpPr>
        <p:spPr>
          <a:xfrm>
            <a:off x="405130" y="1325880"/>
            <a:ext cx="7647305" cy="2219960"/>
          </a:xfrm>
          <a:prstGeom prst="rect">
            <a:avLst/>
          </a:prstGeom>
        </p:spPr>
        <p:txBody>
          <a:bodyPr spcFirstLastPara="1" wrap="square" lIns="91425" tIns="91425" rIns="91425" bIns="91425" anchor="t" anchorCtr="0">
            <a:normAutofit lnSpcReduction="10000"/>
          </a:bodyPr>
          <a:lstStyle/>
          <a:p>
            <a:pPr marL="0" lvl="0" indent="457200" algn="l" rtl="0">
              <a:spcBef>
                <a:spcPts val="1200"/>
              </a:spcBef>
              <a:spcAft>
                <a:spcPts val="0"/>
              </a:spcAft>
              <a:buNone/>
            </a:pPr>
            <a:r>
              <a:rPr lang="en-US" altLang="en-US" sz="1600">
                <a:solidFill>
                  <a:schemeClr val="tx1"/>
                </a:solidFill>
                <a:latin typeface="Segoe UI Emoji" panose="020B0502040204020203" charset="0"/>
                <a:ea typeface="Montserrat"/>
                <a:cs typeface="Segoe UI Emoji" panose="020B0502040204020203" charset="0"/>
                <a:sym typeface="Montserrat"/>
              </a:rPr>
              <a:t>Le projet Menu Maker s’appuie sur </a:t>
            </a:r>
            <a:r>
              <a:rPr lang="fr-FR" altLang="en-US" sz="1600">
                <a:solidFill>
                  <a:schemeClr val="tx1"/>
                </a:solidFill>
                <a:latin typeface="Segoe UI Emoji" panose="020B0502040204020203" charset="0"/>
                <a:ea typeface="Montserrat"/>
                <a:cs typeface="Segoe UI Emoji" panose="020B0502040204020203" charset="0"/>
                <a:sym typeface="Montserrat"/>
              </a:rPr>
              <a:t>la</a:t>
            </a:r>
            <a:r>
              <a:rPr lang="en-US" altLang="en-US" sz="1600">
                <a:solidFill>
                  <a:schemeClr val="tx1"/>
                </a:solidFill>
                <a:latin typeface="Segoe UI Emoji" panose="020B0502040204020203" charset="0"/>
                <a:ea typeface="Montserrat"/>
                <a:cs typeface="Segoe UI Emoji" panose="020B0502040204020203" charset="0"/>
                <a:sym typeface="Montserrat"/>
              </a:rPr>
              <a:t> méthodologie Agile, permettant une organisation itérative et progressive du développement.</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0" lvl="0" indent="457200" algn="l" rtl="0">
              <a:spcBef>
                <a:spcPts val="1200"/>
              </a:spcBef>
              <a:spcAft>
                <a:spcPts val="0"/>
              </a:spcAft>
              <a:buNone/>
            </a:pPr>
            <a:r>
              <a:rPr lang="en-US" altLang="en-US" sz="1600">
                <a:solidFill>
                  <a:schemeClr val="tx1"/>
                </a:solidFill>
                <a:latin typeface="Segoe UI Emoji" panose="020B0502040204020203" charset="0"/>
                <a:ea typeface="Montserrat"/>
                <a:cs typeface="Segoe UI Emoji" panose="020B0502040204020203" charset="0"/>
                <a:sym typeface="Montserrat"/>
              </a:rPr>
              <a:t>Le travail est structuré en sprints, chacun ayant des objectifs fonctionnels clairement définis.</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0" lvl="0" indent="0" algn="l" rtl="0">
              <a:spcBef>
                <a:spcPts val="1200"/>
              </a:spcBef>
              <a:spcAft>
                <a:spcPts val="0"/>
              </a:spcAft>
              <a:buNone/>
            </a:pPr>
            <a:endParaRPr lang="en-US" altLang="en-US" sz="1600">
              <a:solidFill>
                <a:schemeClr val="tx1"/>
              </a:solidFill>
              <a:latin typeface="Segoe UI Emoji" panose="020B0502040204020203" charset="0"/>
              <a:ea typeface="Montserrat"/>
              <a:cs typeface="Segoe UI Emoji" panose="020B0502040204020203" charset="0"/>
              <a:sym typeface="Montserrat"/>
            </a:endParaRPr>
          </a:p>
        </p:txBody>
      </p:sp>
      <p:pic>
        <p:nvPicPr>
          <p:cNvPr id="3" name="Picture 2"/>
          <p:cNvPicPr>
            <a:picLocks noChangeAspect="1"/>
          </p:cNvPicPr>
          <p:nvPr/>
        </p:nvPicPr>
        <p:blipFill>
          <a:blip r:embed="rId1"/>
          <a:stretch>
            <a:fillRect/>
          </a:stretch>
        </p:blipFill>
        <p:spPr>
          <a:xfrm>
            <a:off x="2329815" y="3051175"/>
            <a:ext cx="4483735" cy="1384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18"/>
          <p:cNvSpPr txBox="1"/>
          <p:nvPr>
            <p:ph type="title"/>
          </p:nvPr>
        </p:nvSpPr>
        <p:spPr>
          <a:xfrm>
            <a:off x="382905" y="445135"/>
            <a:ext cx="2352675" cy="57277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FR" altLang="en-US" sz="2445">
                <a:latin typeface="Segoe UI Emoji" panose="020B0502040204020203" charset="0"/>
                <a:ea typeface="Montserrat"/>
                <a:cs typeface="Segoe UI Emoji" panose="020B0502040204020203" charset="0"/>
                <a:sym typeface="Montserrat"/>
              </a:rPr>
              <a:t>Tableau Kanban </a:t>
            </a:r>
            <a:endParaRPr lang="fr-FR" altLang="en-US" sz="2200">
              <a:latin typeface="Segoe UI Emoji" panose="020B0502040204020203" charset="0"/>
              <a:ea typeface="Montserrat"/>
              <a:cs typeface="Segoe UI Emoji" panose="020B0502040204020203" charset="0"/>
              <a:sym typeface="Montserrat"/>
            </a:endParaRPr>
          </a:p>
        </p:txBody>
      </p:sp>
      <p:pic>
        <p:nvPicPr>
          <p:cNvPr id="2" name="Picture 1"/>
          <p:cNvPicPr>
            <a:picLocks noChangeAspect="1"/>
          </p:cNvPicPr>
          <p:nvPr/>
        </p:nvPicPr>
        <p:blipFill>
          <a:blip r:embed="rId1"/>
          <a:stretch>
            <a:fillRect/>
          </a:stretch>
        </p:blipFill>
        <p:spPr>
          <a:xfrm>
            <a:off x="4063365" y="2061210"/>
            <a:ext cx="4813300" cy="2075815"/>
          </a:xfrm>
          <a:prstGeom prst="rect">
            <a:avLst/>
          </a:prstGeom>
        </p:spPr>
      </p:pic>
      <p:pic>
        <p:nvPicPr>
          <p:cNvPr id="4" name="Picture 3"/>
          <p:cNvPicPr>
            <a:picLocks noChangeAspect="1"/>
          </p:cNvPicPr>
          <p:nvPr/>
        </p:nvPicPr>
        <p:blipFill>
          <a:blip r:embed="rId2"/>
          <a:stretch>
            <a:fillRect/>
          </a:stretch>
        </p:blipFill>
        <p:spPr>
          <a:xfrm>
            <a:off x="382905" y="1082040"/>
            <a:ext cx="3947795" cy="979170"/>
          </a:xfrm>
          <a:prstGeom prst="rect">
            <a:avLst/>
          </a:prstGeom>
        </p:spPr>
      </p:pic>
      <p:sp>
        <p:nvSpPr>
          <p:cNvPr id="5" name="Text Box 4"/>
          <p:cNvSpPr txBox="1"/>
          <p:nvPr/>
        </p:nvSpPr>
        <p:spPr>
          <a:xfrm>
            <a:off x="382905" y="2498090"/>
            <a:ext cx="3574415" cy="1743075"/>
          </a:xfrm>
          <a:prstGeom prst="rect">
            <a:avLst/>
          </a:prstGeom>
          <a:noFill/>
        </p:spPr>
        <p:txBody>
          <a:bodyPr wrap="square" rtlCol="0">
            <a:noAutofit/>
          </a:bodyPr>
          <a:p>
            <a:pPr indent="457200"/>
            <a:r>
              <a:rPr lang="en-US" altLang="en-US" sz="1600">
                <a:solidFill>
                  <a:schemeClr val="tx1"/>
                </a:solidFill>
                <a:latin typeface="Segoe UI Emoji" panose="020B0502040204020203" charset="0"/>
                <a:cs typeface="Segoe UI Emoji" panose="020B0502040204020203" charset="0"/>
              </a:rPr>
              <a:t>Le tableau Kanban centralise les user stories et les tâches associées, en précisant leur attribution, leur priorité et leur charge, afin de suivre l’avancement du projet et de faciliter la coordination au sein de l’équipe</a:t>
            </a:r>
            <a:r>
              <a:rPr lang="en-US" altLang="en-US"/>
              <a:t>.</a:t>
            </a:r>
            <a:endParaRPr lang="en-US" altLang="en-US"/>
          </a:p>
          <a:p>
            <a:endParaRPr lang="en-US" altLang="en-US"/>
          </a:p>
          <a:p>
            <a:endParaRPr lang="en-US" altLang="en-US"/>
          </a:p>
          <a:p>
            <a:endParaRPr lang="en-US" altLang="en-US"/>
          </a:p>
        </p:txBody>
      </p:sp>
      <p:sp>
        <p:nvSpPr>
          <p:cNvPr id="6" name="Text Box 5"/>
          <p:cNvSpPr txBox="1"/>
          <p:nvPr/>
        </p:nvSpPr>
        <p:spPr>
          <a:xfrm>
            <a:off x="6950710" y="4369435"/>
            <a:ext cx="1819910" cy="460375"/>
          </a:xfrm>
          <a:prstGeom prst="rect">
            <a:avLst/>
          </a:prstGeom>
          <a:noFill/>
        </p:spPr>
        <p:txBody>
          <a:bodyPr wrap="square" rtlCol="0">
            <a:spAutoFit/>
          </a:bodyPr>
          <a:p>
            <a:r>
              <a:rPr lang="fr-FR" altLang="en-US" sz="1200">
                <a:latin typeface="Segoe UI Emoji" panose="020B0502040204020203" charset="0"/>
                <a:ea typeface="Montserrat"/>
                <a:cs typeface="Segoe UI Emoji" panose="020B0502040204020203" charset="0"/>
                <a:sym typeface="Montserrat"/>
              </a:rPr>
              <a:t>Kanban disponible </a:t>
            </a:r>
            <a:r>
              <a:rPr lang="fr-FR" altLang="en-US" sz="1200">
                <a:latin typeface="Segoe UI Emoji" panose="020B0502040204020203" charset="0"/>
                <a:ea typeface="Montserrat"/>
                <a:cs typeface="Segoe UI Emoji" panose="020B0502040204020203" charset="0"/>
                <a:sym typeface="Montserrat"/>
                <a:hlinkClick r:id="rId3" action="ppaction://hlinkfile"/>
              </a:rPr>
              <a:t>ici</a:t>
            </a:r>
            <a:endParaRPr lang="fr-FR" altLang="en-US" sz="1200">
              <a:latin typeface="Segoe UI Emoji" panose="020B0502040204020203" charset="0"/>
              <a:ea typeface="Montserrat"/>
              <a:cs typeface="Segoe UI Emoji" panose="020B0502040204020203" charset="0"/>
              <a:sym typeface="Montserrat"/>
            </a:endParaRPr>
          </a:p>
          <a:p>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ounded Rectangle 3"/>
          <p:cNvSpPr/>
          <p:nvPr/>
        </p:nvSpPr>
        <p:spPr>
          <a:xfrm>
            <a:off x="540635" y="1080000"/>
            <a:ext cx="3960000" cy="1260000"/>
          </a:xfrm>
          <a:prstGeom prst="roundRect">
            <a:avLst/>
          </a:prstGeom>
          <a:solidFill>
            <a:srgbClr val="8BC7B1">
              <a:alpha val="55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lIns="107950" tIns="46990" rIns="90170" bIns="46990" rtlCol="0" anchor="ctr" anchorCtr="0"/>
          <a:p>
            <a:pPr marL="0" lvl="0" indent="0" algn="l" rtl="0">
              <a:spcBef>
                <a:spcPts val="1200"/>
              </a:spcBef>
              <a:spcAft>
                <a:spcPts val="0"/>
              </a:spcAft>
              <a:buNone/>
            </a:pPr>
            <a:r>
              <a:rPr lang="en-US" altLang="en-US" sz="1600" b="1">
                <a:solidFill>
                  <a:schemeClr val="tx1"/>
                </a:solidFill>
                <a:latin typeface="Segoe UI Emoji" panose="020B0502040204020203" charset="0"/>
                <a:cs typeface="Segoe UI Emoji" panose="020B0502040204020203" charset="0"/>
                <a:sym typeface="+mn-ea"/>
              </a:rPr>
              <a:t>Frontend dynamique</a:t>
            </a:r>
            <a:r>
              <a:rPr lang="en-US" altLang="en-US" sz="1600" b="1">
                <a:solidFill>
                  <a:schemeClr val="tx1"/>
                </a:solidFill>
                <a:latin typeface="Segoe UI Emoji" panose="020B0502040204020203" charset="0"/>
                <a:cs typeface="Segoe UI Emoji" panose="020B0502040204020203" charset="0"/>
                <a:sym typeface="+mn-ea"/>
              </a:rPr>
              <a:t> </a:t>
            </a:r>
            <a:endParaRPr lang="en-US" altLang="en-US" sz="1600" b="1">
              <a:solidFill>
                <a:schemeClr val="tx1"/>
              </a:solidFill>
              <a:latin typeface="Segoe UI Emoji" panose="020B0502040204020203" charset="0"/>
              <a:cs typeface="Segoe UI Emoji" panose="020B0502040204020203" charset="0"/>
              <a:sym typeface="+mn-ea"/>
            </a:endParaRPr>
          </a:p>
          <a:p>
            <a:pPr marL="0" lvl="0" indent="0" algn="l" rtl="0">
              <a:spcBef>
                <a:spcPts val="1200"/>
              </a:spcBef>
              <a:spcAft>
                <a:spcPts val="0"/>
              </a:spcAft>
              <a:buNone/>
            </a:pPr>
            <a:r>
              <a:rPr lang="fr-FR" altLang="en-US" sz="1200">
                <a:solidFill>
                  <a:schemeClr val="tx1"/>
                </a:solidFill>
                <a:latin typeface="Segoe UI Emoji" panose="020B0502040204020203" charset="0"/>
                <a:cs typeface="Segoe UI Emoji" panose="020B0502040204020203" charset="0"/>
                <a:sym typeface="+mn-ea"/>
              </a:rPr>
              <a:t>I</a:t>
            </a:r>
            <a:r>
              <a:rPr lang="en-US" altLang="en-US" sz="1200">
                <a:solidFill>
                  <a:schemeClr val="tx1"/>
                </a:solidFill>
                <a:latin typeface="Segoe UI Emoji" panose="020B0502040204020203" charset="0"/>
                <a:cs typeface="Segoe UI Emoji" panose="020B0502040204020203" charset="0"/>
                <a:sym typeface="+mn-ea"/>
              </a:rPr>
              <a:t>nterface web réactive permettant une gestion fluide des menus par le restaurateur.</a:t>
            </a:r>
            <a:endParaRPr lang="en-US" sz="1200"/>
          </a:p>
        </p:txBody>
      </p:sp>
      <p:sp>
        <p:nvSpPr>
          <p:cNvPr id="5" name="Rounded Rectangle 4"/>
          <p:cNvSpPr/>
          <p:nvPr/>
        </p:nvSpPr>
        <p:spPr>
          <a:xfrm>
            <a:off x="4968000" y="1080000"/>
            <a:ext cx="3600000" cy="1260000"/>
          </a:xfrm>
          <a:prstGeom prst="roundRect">
            <a:avLst/>
          </a:prstGeom>
          <a:solidFill>
            <a:srgbClr val="8BC7B1">
              <a:alpha val="55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lIns="107950" tIns="46990" rIns="90170" bIns="46990" rtlCol="0" anchor="ctr" anchorCtr="0"/>
          <a:p>
            <a:pPr marL="0" lvl="0" indent="0" algn="l" rtl="0">
              <a:spcBef>
                <a:spcPts val="1200"/>
              </a:spcBef>
              <a:spcAft>
                <a:spcPts val="0"/>
              </a:spcAft>
              <a:buNone/>
            </a:pPr>
            <a:r>
              <a:rPr lang="en-US" altLang="en-US" sz="1600" b="1">
                <a:solidFill>
                  <a:schemeClr val="tx1"/>
                </a:solidFill>
                <a:latin typeface="Segoe UI Emoji" panose="020B0502040204020203" charset="0"/>
                <a:cs typeface="Segoe UI Emoji" panose="020B0502040204020203" charset="0"/>
                <a:sym typeface="+mn-ea"/>
              </a:rPr>
              <a:t>Authentification par lien e-mail</a:t>
            </a:r>
            <a:endParaRPr lang="en-US" altLang="en-US" sz="1600" b="1">
              <a:solidFill>
                <a:schemeClr val="tx1"/>
              </a:solidFill>
              <a:latin typeface="Segoe UI Emoji" panose="020B0502040204020203" charset="0"/>
              <a:cs typeface="Segoe UI Emoji" panose="020B0502040204020203" charset="0"/>
              <a:sym typeface="+mn-ea"/>
            </a:endParaRPr>
          </a:p>
          <a:p>
            <a:pPr marL="0" lvl="0" indent="0" algn="l" rtl="0">
              <a:spcBef>
                <a:spcPts val="1200"/>
              </a:spcBef>
              <a:spcAft>
                <a:spcPts val="0"/>
              </a:spcAft>
              <a:buNone/>
            </a:pPr>
            <a:r>
              <a:rPr lang="fr-FR" altLang="en-US" sz="1200">
                <a:solidFill>
                  <a:schemeClr val="tx1"/>
                </a:solidFill>
                <a:latin typeface="Segoe UI Emoji" panose="020B0502040204020203" charset="0"/>
                <a:cs typeface="Segoe UI Emoji" panose="020B0502040204020203" charset="0"/>
                <a:sym typeface="+mn-ea"/>
              </a:rPr>
              <a:t>C</a:t>
            </a:r>
            <a:r>
              <a:rPr lang="en-US" altLang="en-US" sz="1200">
                <a:solidFill>
                  <a:schemeClr val="tx1"/>
                </a:solidFill>
                <a:latin typeface="Segoe UI Emoji" panose="020B0502040204020203" charset="0"/>
                <a:cs typeface="Segoe UI Emoji" panose="020B0502040204020203" charset="0"/>
                <a:sym typeface="+mn-ea"/>
              </a:rPr>
              <a:t>onnexion sécurisée sans mot de pass</a:t>
            </a:r>
            <a:r>
              <a:rPr lang="en-US" altLang="en-US" sz="1200">
                <a:solidFill>
                  <a:schemeClr val="tx1"/>
                </a:solidFill>
                <a:latin typeface="Segoe UI Emoji" panose="020B0502040204020203" charset="0"/>
                <a:cs typeface="Segoe UI Emoji" panose="020B0502040204020203" charset="0"/>
                <a:sym typeface="+mn-ea"/>
              </a:rPr>
              <a:t>e.</a:t>
            </a:r>
            <a:endParaRPr lang="en-US" sz="1200"/>
          </a:p>
        </p:txBody>
      </p:sp>
      <p:sp>
        <p:nvSpPr>
          <p:cNvPr id="6" name="Rounded Rectangle 5"/>
          <p:cNvSpPr/>
          <p:nvPr/>
        </p:nvSpPr>
        <p:spPr>
          <a:xfrm>
            <a:off x="540000" y="2448880"/>
            <a:ext cx="3960000" cy="1260000"/>
          </a:xfrm>
          <a:prstGeom prst="roundRect">
            <a:avLst/>
          </a:prstGeom>
          <a:solidFill>
            <a:srgbClr val="8BC7B1">
              <a:alpha val="55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lIns="107950" tIns="46990" rIns="90170" bIns="46990" rtlCol="0" anchor="ctr" anchorCtr="0"/>
          <a:p>
            <a:pPr marL="0" lvl="0" indent="0" algn="l" rtl="0">
              <a:spcBef>
                <a:spcPts val="1200"/>
              </a:spcBef>
              <a:spcAft>
                <a:spcPts val="0"/>
              </a:spcAft>
              <a:buNone/>
            </a:pPr>
            <a:r>
              <a:rPr lang="en-US" altLang="en-US" sz="1600" b="1">
                <a:solidFill>
                  <a:schemeClr val="tx1"/>
                </a:solidFill>
                <a:latin typeface="Segoe UI Emoji" panose="020B0502040204020203" charset="0"/>
                <a:cs typeface="Segoe UI Emoji" panose="020B0502040204020203" charset="0"/>
                <a:sym typeface="+mn-ea"/>
              </a:rPr>
              <a:t>Backend centralisé</a:t>
            </a:r>
            <a:endParaRPr lang="fr-FR" altLang="en-US" sz="1600" b="1">
              <a:solidFill>
                <a:schemeClr val="tx1"/>
              </a:solidFill>
              <a:latin typeface="Segoe UI Emoji" panose="020B0502040204020203" charset="0"/>
              <a:cs typeface="Segoe UI Emoji" panose="020B0502040204020203" charset="0"/>
              <a:sym typeface="+mn-ea"/>
            </a:endParaRPr>
          </a:p>
          <a:p>
            <a:pPr marL="0" lvl="0" indent="0" algn="l" rtl="0">
              <a:spcBef>
                <a:spcPts val="1200"/>
              </a:spcBef>
              <a:spcAft>
                <a:spcPts val="0"/>
              </a:spcAft>
              <a:buNone/>
            </a:pPr>
            <a:r>
              <a:rPr lang="fr-FR" altLang="en-US" sz="1200">
                <a:solidFill>
                  <a:schemeClr val="tx1"/>
                </a:solidFill>
                <a:latin typeface="Segoe UI Emoji" panose="020B0502040204020203" charset="0"/>
                <a:cs typeface="Segoe UI Emoji" panose="020B0502040204020203" charset="0"/>
                <a:sym typeface="+mn-ea"/>
              </a:rPr>
              <a:t>G</a:t>
            </a:r>
            <a:r>
              <a:rPr lang="en-US" altLang="en-US" sz="1200">
                <a:solidFill>
                  <a:schemeClr val="tx1"/>
                </a:solidFill>
                <a:latin typeface="Segoe UI Emoji" panose="020B0502040204020203" charset="0"/>
                <a:cs typeface="Segoe UI Emoji" panose="020B0502040204020203" charset="0"/>
                <a:sym typeface="+mn-ea"/>
              </a:rPr>
              <a:t>estion des données et de l’authentification via des services dédiés.</a:t>
            </a:r>
            <a:endParaRPr lang="en-US" altLang="en-US" sz="1200">
              <a:solidFill>
                <a:schemeClr val="tx1"/>
              </a:solidFill>
              <a:latin typeface="Segoe UI Emoji" panose="020B0502040204020203" charset="0"/>
              <a:cs typeface="Segoe UI Emoji" panose="020B0502040204020203" charset="0"/>
            </a:endParaRPr>
          </a:p>
        </p:txBody>
      </p:sp>
      <p:sp>
        <p:nvSpPr>
          <p:cNvPr id="7" name="Rounded Rectangle 6"/>
          <p:cNvSpPr/>
          <p:nvPr/>
        </p:nvSpPr>
        <p:spPr>
          <a:xfrm>
            <a:off x="4968000" y="2461140"/>
            <a:ext cx="3600000" cy="1260000"/>
          </a:xfrm>
          <a:prstGeom prst="roundRect">
            <a:avLst/>
          </a:prstGeom>
          <a:solidFill>
            <a:srgbClr val="8BC7B1">
              <a:alpha val="55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lIns="107950" tIns="46990" rIns="90170" bIns="46990" rtlCol="0" anchor="ctr" anchorCtr="0"/>
          <a:p>
            <a:pPr marL="0" lvl="0" indent="0" algn="l" rtl="0">
              <a:spcBef>
                <a:spcPts val="1200"/>
              </a:spcBef>
              <a:spcAft>
                <a:spcPts val="0"/>
              </a:spcAft>
              <a:buNone/>
            </a:pPr>
            <a:r>
              <a:rPr lang="en-US" altLang="en-US" sz="1600" b="1">
                <a:solidFill>
                  <a:schemeClr val="tx1"/>
                </a:solidFill>
                <a:latin typeface="Segoe UI Emoji" panose="020B0502040204020203" charset="0"/>
                <a:cs typeface="Segoe UI Emoji" panose="020B0502040204020203" charset="0"/>
                <a:sym typeface="+mn-ea"/>
              </a:rPr>
              <a:t>Séparation données / médias</a:t>
            </a:r>
            <a:endParaRPr lang="en-US" altLang="en-US" sz="1600" b="1">
              <a:solidFill>
                <a:schemeClr val="tx1"/>
              </a:solidFill>
              <a:latin typeface="Segoe UI Emoji" panose="020B0502040204020203" charset="0"/>
              <a:cs typeface="Segoe UI Emoji" panose="020B0502040204020203" charset="0"/>
              <a:sym typeface="+mn-ea"/>
            </a:endParaRPr>
          </a:p>
          <a:p>
            <a:pPr marL="0" lvl="0" indent="0" algn="l" rtl="0">
              <a:spcBef>
                <a:spcPts val="1200"/>
              </a:spcBef>
              <a:spcAft>
                <a:spcPts val="0"/>
              </a:spcAft>
              <a:buNone/>
            </a:pPr>
            <a:r>
              <a:rPr lang="fr-FR" altLang="en-US" sz="1200">
                <a:solidFill>
                  <a:schemeClr val="tx1"/>
                </a:solidFill>
                <a:latin typeface="Segoe UI Emoji" panose="020B0502040204020203" charset="0"/>
                <a:cs typeface="Segoe UI Emoji" panose="020B0502040204020203" charset="0"/>
                <a:sym typeface="+mn-ea"/>
              </a:rPr>
              <a:t>G</a:t>
            </a:r>
            <a:r>
              <a:rPr lang="en-US" altLang="en-US" sz="1200">
                <a:solidFill>
                  <a:schemeClr val="tx1"/>
                </a:solidFill>
                <a:latin typeface="Segoe UI Emoji" panose="020B0502040204020203" charset="0"/>
                <a:cs typeface="Segoe UI Emoji" panose="020B0502040204020203" charset="0"/>
                <a:sym typeface="+mn-ea"/>
              </a:rPr>
              <a:t>estion des photos indépendante des données textuelles.</a:t>
            </a:r>
            <a:endParaRPr lang="en-US" sz="1200"/>
          </a:p>
        </p:txBody>
      </p:sp>
      <p:sp>
        <p:nvSpPr>
          <p:cNvPr id="8" name="Rounded Rectangle 7"/>
          <p:cNvSpPr/>
          <p:nvPr/>
        </p:nvSpPr>
        <p:spPr>
          <a:xfrm>
            <a:off x="540000" y="3816000"/>
            <a:ext cx="3960000" cy="1260000"/>
          </a:xfrm>
          <a:prstGeom prst="roundRect">
            <a:avLst/>
          </a:prstGeom>
          <a:solidFill>
            <a:srgbClr val="8BC7B1">
              <a:alpha val="55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lIns="107950" tIns="46990" rIns="90170" bIns="46990" rtlCol="0" anchor="ctr" anchorCtr="0"/>
          <a:p>
            <a:pPr marL="0" lvl="0" indent="0" algn="l" rtl="0">
              <a:spcBef>
                <a:spcPts val="1200"/>
              </a:spcBef>
              <a:spcAft>
                <a:spcPts val="0"/>
              </a:spcAft>
              <a:buNone/>
            </a:pPr>
            <a:r>
              <a:rPr lang="en-US" altLang="en-US" sz="1600" b="1">
                <a:solidFill>
                  <a:schemeClr val="tx1"/>
                </a:solidFill>
                <a:latin typeface="Segoe UI Emoji" panose="020B0502040204020203" charset="0"/>
                <a:cs typeface="Segoe UI Emoji" panose="020B0502040204020203" charset="0"/>
                <a:sym typeface="+mn-ea"/>
              </a:rPr>
              <a:t>Base de données NoSQL</a:t>
            </a:r>
            <a:endParaRPr lang="en-US" altLang="en-US" sz="1600" b="1">
              <a:solidFill>
                <a:schemeClr val="tx1"/>
              </a:solidFill>
              <a:latin typeface="Segoe UI Emoji" panose="020B0502040204020203" charset="0"/>
              <a:cs typeface="Segoe UI Emoji" panose="020B0502040204020203" charset="0"/>
              <a:sym typeface="+mn-ea"/>
            </a:endParaRPr>
          </a:p>
          <a:p>
            <a:pPr marL="0" lvl="0" indent="0" algn="l" rtl="0">
              <a:spcBef>
                <a:spcPts val="1200"/>
              </a:spcBef>
              <a:spcAft>
                <a:spcPts val="0"/>
              </a:spcAft>
              <a:buNone/>
            </a:pPr>
            <a:r>
              <a:rPr lang="fr-FR" altLang="en-US" sz="1200">
                <a:solidFill>
                  <a:schemeClr val="tx1"/>
                </a:solidFill>
                <a:latin typeface="Segoe UI Emoji" panose="020B0502040204020203" charset="0"/>
                <a:cs typeface="Segoe UI Emoji" panose="020B0502040204020203" charset="0"/>
                <a:sym typeface="+mn-ea"/>
              </a:rPr>
              <a:t>S</a:t>
            </a:r>
            <a:r>
              <a:rPr lang="en-US" altLang="en-US" sz="1200">
                <a:solidFill>
                  <a:schemeClr val="tx1"/>
                </a:solidFill>
                <a:latin typeface="Segoe UI Emoji" panose="020B0502040204020203" charset="0"/>
                <a:cs typeface="Segoe UI Emoji" panose="020B0502040204020203" charset="0"/>
                <a:sym typeface="+mn-ea"/>
              </a:rPr>
              <a:t>tockage flexible des menus, plats et catégories.</a:t>
            </a:r>
            <a:endParaRPr lang="en-US" sz="1200"/>
          </a:p>
        </p:txBody>
      </p:sp>
      <p:sp>
        <p:nvSpPr>
          <p:cNvPr id="9" name="Rounded Rectangle 8"/>
          <p:cNvSpPr/>
          <p:nvPr/>
        </p:nvSpPr>
        <p:spPr>
          <a:xfrm>
            <a:off x="4968000" y="3816000"/>
            <a:ext cx="3600000" cy="1260000"/>
          </a:xfrm>
          <a:prstGeom prst="roundRect">
            <a:avLst/>
          </a:prstGeom>
          <a:solidFill>
            <a:srgbClr val="8BC7B1">
              <a:alpha val="55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lIns="107950" tIns="46990" rIns="90170" bIns="46990" rtlCol="0" anchor="ctr" anchorCtr="0"/>
          <a:p>
            <a:pPr marL="0" lvl="0" indent="0" algn="l" rtl="0">
              <a:spcBef>
                <a:spcPts val="1200"/>
              </a:spcBef>
              <a:spcAft>
                <a:spcPts val="0"/>
              </a:spcAft>
              <a:buNone/>
            </a:pPr>
            <a:r>
              <a:rPr lang="en-US" altLang="en-US" sz="1600" b="1">
                <a:solidFill>
                  <a:schemeClr val="tx1"/>
                </a:solidFill>
                <a:latin typeface="Segoe UI Emoji" panose="020B0502040204020203" charset="0"/>
                <a:cs typeface="Segoe UI Emoji" panose="020B0502040204020203" charset="0"/>
                <a:sym typeface="+mn-ea"/>
              </a:rPr>
              <a:t>Accessibilité intégrée</a:t>
            </a:r>
            <a:endParaRPr lang="en-US" altLang="en-US" sz="1600" b="1">
              <a:solidFill>
                <a:schemeClr val="tx1"/>
              </a:solidFill>
              <a:latin typeface="Segoe UI Emoji" panose="020B0502040204020203" charset="0"/>
              <a:cs typeface="Segoe UI Emoji" panose="020B0502040204020203" charset="0"/>
              <a:sym typeface="+mn-ea"/>
            </a:endParaRPr>
          </a:p>
          <a:p>
            <a:pPr marL="0" lvl="0" indent="0" algn="l" rtl="0">
              <a:spcBef>
                <a:spcPts val="1200"/>
              </a:spcBef>
              <a:spcAft>
                <a:spcPts val="0"/>
              </a:spcAft>
              <a:buNone/>
            </a:pPr>
            <a:r>
              <a:rPr lang="fr-FR" altLang="en-US" sz="1200">
                <a:solidFill>
                  <a:schemeClr val="tx1"/>
                </a:solidFill>
                <a:latin typeface="Segoe UI Emoji" panose="020B0502040204020203" charset="0"/>
                <a:cs typeface="Segoe UI Emoji" panose="020B0502040204020203" charset="0"/>
                <a:sym typeface="+mn-ea"/>
              </a:rPr>
              <a:t>U</a:t>
            </a:r>
            <a:r>
              <a:rPr lang="en-US" altLang="en-US" sz="1200">
                <a:solidFill>
                  <a:schemeClr val="tx1"/>
                </a:solidFill>
                <a:latin typeface="Segoe UI Emoji" panose="020B0502040204020203" charset="0"/>
                <a:cs typeface="Segoe UI Emoji" panose="020B0502040204020203" charset="0"/>
                <a:sym typeface="+mn-ea"/>
              </a:rPr>
              <a:t>tilisation d’éléments HTML sémantiques et navigation clavier.</a:t>
            </a:r>
            <a:endParaRPr lang="en-US" sz="1200"/>
          </a:p>
        </p:txBody>
      </p:sp>
      <p:sp>
        <p:nvSpPr>
          <p:cNvPr id="101" name="Google Shape;101;p19"/>
          <p:cNvSpPr txBox="1"/>
          <p:nvPr>
            <p:ph type="title"/>
          </p:nvPr>
        </p:nvSpPr>
        <p:spPr>
          <a:xfrm>
            <a:off x="525060" y="445025"/>
            <a:ext cx="8520600" cy="572700"/>
          </a:xfrm>
          <a:prstGeom prst="rect">
            <a:avLst/>
          </a:prstGeom>
        </p:spPr>
        <p:txBody>
          <a:bodyPr spcFirstLastPara="1" wrap="square" lIns="91425" tIns="91425" rIns="91425" bIns="91425" anchor="t" anchorCtr="0">
            <a:normAutofit/>
          </a:bodyPr>
          <a:p>
            <a:pPr marL="0" lvl="0" indent="0" algn="l" rtl="0">
              <a:lnSpc>
                <a:spcPct val="115000"/>
              </a:lnSpc>
              <a:spcBef>
                <a:spcPts val="0"/>
              </a:spcBef>
              <a:spcAft>
                <a:spcPts val="1200"/>
              </a:spcAft>
              <a:buNone/>
            </a:pPr>
            <a:r>
              <a:rPr lang="en-US" altLang="en-US" sz="2200">
                <a:solidFill>
                  <a:schemeClr val="tx1"/>
                </a:solidFill>
                <a:latin typeface="Segoe UI Emoji" panose="020B0502040204020203" charset="0"/>
                <a:ea typeface="Montserrat"/>
                <a:cs typeface="Segoe UI Emoji" panose="020B0502040204020203" charset="0"/>
                <a:sym typeface="Montserrat"/>
              </a:rPr>
              <a:t>Principales spécifications techniques</a:t>
            </a:r>
            <a:endParaRPr lang="en-US" altLang="en-US" sz="2200">
              <a:solidFill>
                <a:schemeClr val="tx1"/>
              </a:solidFill>
              <a:latin typeface="Segoe UI Emoji" panose="020B0502040204020203" charset="0"/>
              <a:ea typeface="Montserrat"/>
              <a:cs typeface="Segoe UI Emoji" panose="020B0502040204020203" charset="0"/>
              <a:sym typeface="Montserrat"/>
            </a:endParaRPr>
          </a:p>
        </p:txBody>
      </p:sp>
      <p:pic>
        <p:nvPicPr>
          <p:cNvPr id="11" name="Picture 10" descr="Firebase-Logo"/>
          <p:cNvPicPr>
            <a:picLocks noChangeAspect="1"/>
          </p:cNvPicPr>
          <p:nvPr/>
        </p:nvPicPr>
        <p:blipFill>
          <a:blip r:embed="rId1"/>
          <a:stretch>
            <a:fillRect/>
          </a:stretch>
        </p:blipFill>
        <p:spPr>
          <a:xfrm>
            <a:off x="2790190" y="2352040"/>
            <a:ext cx="1448435" cy="814705"/>
          </a:xfrm>
          <a:prstGeom prst="rect">
            <a:avLst/>
          </a:prstGeom>
        </p:spPr>
      </p:pic>
      <p:pic>
        <p:nvPicPr>
          <p:cNvPr id="13" name="Picture 12" descr="icons8-base-de-données-100"/>
          <p:cNvPicPr>
            <a:picLocks noChangeAspect="1"/>
          </p:cNvPicPr>
          <p:nvPr/>
        </p:nvPicPr>
        <p:blipFill>
          <a:blip r:embed="rId2"/>
          <a:stretch>
            <a:fillRect/>
          </a:stretch>
        </p:blipFill>
        <p:spPr>
          <a:xfrm>
            <a:off x="3634740" y="3865880"/>
            <a:ext cx="682625" cy="682625"/>
          </a:xfrm>
          <a:prstGeom prst="rect">
            <a:avLst/>
          </a:prstGeom>
        </p:spPr>
      </p:pic>
      <p:pic>
        <p:nvPicPr>
          <p:cNvPr id="14" name="Picture 13" descr="icons8-courrier-50"/>
          <p:cNvPicPr>
            <a:picLocks noChangeAspect="1"/>
          </p:cNvPicPr>
          <p:nvPr/>
        </p:nvPicPr>
        <p:blipFill>
          <a:blip r:embed="rId3"/>
          <a:stretch>
            <a:fillRect/>
          </a:stretch>
        </p:blipFill>
        <p:spPr>
          <a:xfrm>
            <a:off x="7994650" y="1219200"/>
            <a:ext cx="320040" cy="320040"/>
          </a:xfrm>
          <a:prstGeom prst="rect">
            <a:avLst/>
          </a:prstGeom>
        </p:spPr>
      </p:pic>
      <p:pic>
        <p:nvPicPr>
          <p:cNvPr id="15" name="Picture 14" descr="icons8-photo-50"/>
          <p:cNvPicPr>
            <a:picLocks noChangeAspect="1"/>
          </p:cNvPicPr>
          <p:nvPr/>
        </p:nvPicPr>
        <p:blipFill>
          <a:blip r:embed="rId4"/>
          <a:stretch>
            <a:fillRect/>
          </a:stretch>
        </p:blipFill>
        <p:spPr>
          <a:xfrm>
            <a:off x="7994650" y="2644140"/>
            <a:ext cx="412115" cy="412115"/>
          </a:xfrm>
          <a:prstGeom prst="rect">
            <a:avLst/>
          </a:prstGeom>
        </p:spPr>
      </p:pic>
      <p:pic>
        <p:nvPicPr>
          <p:cNvPr id="16" name="Picture 15" descr="icons8-malvoyant-50"/>
          <p:cNvPicPr>
            <a:picLocks noChangeAspect="1"/>
          </p:cNvPicPr>
          <p:nvPr/>
        </p:nvPicPr>
        <p:blipFill>
          <a:blip r:embed="rId5"/>
          <a:stretch>
            <a:fillRect/>
          </a:stretch>
        </p:blipFill>
        <p:spPr>
          <a:xfrm>
            <a:off x="7818755" y="3888105"/>
            <a:ext cx="495935" cy="495935"/>
          </a:xfrm>
          <a:prstGeom prst="rect">
            <a:avLst/>
          </a:prstGeom>
        </p:spPr>
      </p:pic>
      <p:pic>
        <p:nvPicPr>
          <p:cNvPr id="18" name="Picture 17" descr="icons8-réagir-96"/>
          <p:cNvPicPr>
            <a:picLocks noChangeAspect="1"/>
          </p:cNvPicPr>
          <p:nvPr/>
        </p:nvPicPr>
        <p:blipFill>
          <a:blip r:embed="rId6"/>
          <a:stretch>
            <a:fillRect/>
          </a:stretch>
        </p:blipFill>
        <p:spPr>
          <a:xfrm>
            <a:off x="3793490" y="1257935"/>
            <a:ext cx="445135" cy="4451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549275" y="445135"/>
            <a:ext cx="4793615" cy="572770"/>
          </a:xfrm>
        </p:spPr>
        <p:txBody>
          <a:bodyPr>
            <a:normAutofit fontScale="90000"/>
          </a:bodyPr>
          <a:p>
            <a:r>
              <a:rPr lang="en-US" altLang="en-US" sz="2445">
                <a:latin typeface="Segoe UI Emoji" panose="020B0502040204020203" charset="0"/>
                <a:cs typeface="Segoe UI Emoji" panose="020B0502040204020203" charset="0"/>
              </a:rPr>
              <a:t>Architecture de gestion des menus</a:t>
            </a:r>
            <a:endParaRPr lang="en-US" altLang="en-US" sz="2445">
              <a:latin typeface="Segoe UI Emoji" panose="020B0502040204020203" charset="0"/>
              <a:cs typeface="Segoe UI Emoji" panose="020B0502040204020203" charset="0"/>
            </a:endParaRPr>
          </a:p>
        </p:txBody>
      </p:sp>
      <p:pic>
        <p:nvPicPr>
          <p:cNvPr id="4" name="Picture 3"/>
          <p:cNvPicPr>
            <a:picLocks noChangeAspect="1"/>
          </p:cNvPicPr>
          <p:nvPr/>
        </p:nvPicPr>
        <p:blipFill>
          <a:blip r:embed="rId1"/>
          <a:stretch>
            <a:fillRect/>
          </a:stretch>
        </p:blipFill>
        <p:spPr>
          <a:xfrm>
            <a:off x="5669915" y="612775"/>
            <a:ext cx="2920365" cy="4271645"/>
          </a:xfrm>
          <a:prstGeom prst="rect">
            <a:avLst/>
          </a:prstGeom>
        </p:spPr>
      </p:pic>
      <p:sp>
        <p:nvSpPr>
          <p:cNvPr id="8" name="Text Box 7"/>
          <p:cNvSpPr txBox="1"/>
          <p:nvPr/>
        </p:nvSpPr>
        <p:spPr>
          <a:xfrm>
            <a:off x="549275" y="1085215"/>
            <a:ext cx="4736465" cy="3589655"/>
          </a:xfrm>
          <a:prstGeom prst="rect">
            <a:avLst/>
          </a:prstGeom>
          <a:noFill/>
        </p:spPr>
        <p:txBody>
          <a:bodyPr wrap="square" rtlCol="0">
            <a:noAutofit/>
          </a:bodyPr>
          <a:p>
            <a:pPr indent="457200"/>
            <a:r>
              <a:rPr lang="en-US" altLang="en-US" sz="1600">
                <a:latin typeface="Segoe UI Emoji" panose="020B0502040204020203" charset="0"/>
                <a:cs typeface="Segoe UI Emoji" panose="020B0502040204020203" charset="0"/>
              </a:rPr>
              <a:t>Lorsqu’un restaurateur crée ou modifie un menu, les informations saisies sont transmises du front-end vers le back-end, puis stockées dans une base de données NoSQL.</a:t>
            </a:r>
            <a:endParaRPr lang="en-US" altLang="en-US" sz="1600">
              <a:latin typeface="Segoe UI Emoji" panose="020B0502040204020203" charset="0"/>
              <a:cs typeface="Segoe UI Emoji" panose="020B0502040204020203" charset="0"/>
            </a:endParaRPr>
          </a:p>
          <a:p>
            <a:endParaRPr lang="en-US" altLang="en-US" sz="1600">
              <a:latin typeface="Segoe UI Emoji" panose="020B0502040204020203" charset="0"/>
              <a:cs typeface="Segoe UI Emoji" panose="020B0502040204020203" charset="0"/>
            </a:endParaRPr>
          </a:p>
          <a:p>
            <a:endParaRPr lang="en-US" altLang="en-US" sz="1600">
              <a:latin typeface="Segoe UI Emoji" panose="020B0502040204020203" charset="0"/>
              <a:cs typeface="Segoe UI Emoji" panose="020B0502040204020203" charset="0"/>
            </a:endParaRPr>
          </a:p>
          <a:p>
            <a:pPr indent="457200"/>
            <a:r>
              <a:rPr lang="en-US" altLang="en-US" sz="1600">
                <a:latin typeface="Segoe UI Emoji" panose="020B0502040204020203" charset="0"/>
                <a:cs typeface="Segoe UI Emoji" panose="020B0502040204020203" charset="0"/>
              </a:rPr>
              <a:t>Les menus sont organisés par catégories et par plats, et associés à l’utilisateur connecté.</a:t>
            </a:r>
            <a:endParaRPr lang="en-US" altLang="en-US" sz="1600">
              <a:latin typeface="Segoe UI Emoji" panose="020B0502040204020203" charset="0"/>
              <a:cs typeface="Segoe UI Emoji" panose="020B0502040204020203" charset="0"/>
            </a:endParaRPr>
          </a:p>
          <a:p>
            <a:pPr indent="457200"/>
            <a:endParaRPr lang="en-US" altLang="en-US" sz="1600">
              <a:latin typeface="Segoe UI Emoji" panose="020B0502040204020203" charset="0"/>
              <a:cs typeface="Segoe UI Emoji" panose="020B0502040204020203" charset="0"/>
            </a:endParaRPr>
          </a:p>
          <a:p>
            <a:pPr indent="457200"/>
            <a:endParaRPr lang="en-US" altLang="en-US" sz="1600">
              <a:latin typeface="Segoe UI Emoji" panose="020B0502040204020203" charset="0"/>
              <a:cs typeface="Segoe UI Emoji" panose="020B0502040204020203" charset="0"/>
            </a:endParaRPr>
          </a:p>
          <a:p>
            <a:pPr indent="457200"/>
            <a:r>
              <a:rPr lang="en-US" altLang="en-US" sz="1600">
                <a:latin typeface="Segoe UI Emoji" panose="020B0502040204020203" charset="0"/>
                <a:cs typeface="Segoe UI Emoji" panose="020B0502040204020203" charset="0"/>
              </a:rPr>
              <a:t>Lors de l’affichage, le back-end récup</a:t>
            </a:r>
            <a:r>
              <a:rPr lang="en-US" altLang="en-US" sz="1600">
                <a:latin typeface="Segoe UI Emoji" panose="020B0502040204020203" charset="0"/>
                <a:cs typeface="Segoe UI Emoji" panose="020B0502040204020203" charset="0"/>
              </a:rPr>
              <a:t>è</a:t>
            </a:r>
            <a:r>
              <a:rPr lang="en-US" altLang="en-US" sz="1600">
                <a:latin typeface="Segoe UI Emoji" panose="020B0502040204020203" charset="0"/>
                <a:cs typeface="Segoe UI Emoji" panose="020B0502040204020203" charset="0"/>
              </a:rPr>
              <a:t>re les données et les renvoie au front-end pour présentation à l’utilisateur.</a:t>
            </a:r>
            <a:endParaRPr lang="en-US" altLang="en-US" sz="1600">
              <a:latin typeface="Segoe UI Emoji" panose="020B0502040204020203" charset="0"/>
              <a:cs typeface="Segoe UI Emoji" panose="020B0502040204020203"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10" name="Shape 110"/>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414020" y="3314065"/>
            <a:ext cx="3726180" cy="1727200"/>
          </a:xfrm>
          <a:prstGeom prst="rect">
            <a:avLst/>
          </a:prstGeom>
        </p:spPr>
      </p:pic>
      <p:sp>
        <p:nvSpPr>
          <p:cNvPr id="111" name="Google Shape;111;p20"/>
          <p:cNvSpPr txBox="1"/>
          <p:nvPr>
            <p:ph type="title"/>
          </p:nvPr>
        </p:nvSpPr>
        <p:spPr>
          <a:xfrm>
            <a:off x="530860" y="445135"/>
            <a:ext cx="2981325" cy="57277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US" sz="2200">
                <a:solidFill>
                  <a:schemeClr val="tx1"/>
                </a:solidFill>
                <a:latin typeface="Segoe UI Emoji" panose="020B0502040204020203" charset="0"/>
                <a:ea typeface="Montserrat"/>
                <a:cs typeface="Segoe UI Emoji" panose="020B0502040204020203" charset="0"/>
                <a:sym typeface="Montserrat"/>
              </a:rPr>
              <a:t>Veille Technologique</a:t>
            </a:r>
            <a:endParaRPr lang="en-US" sz="2200">
              <a:solidFill>
                <a:schemeClr val="tx1"/>
              </a:solidFill>
              <a:latin typeface="Segoe UI Emoji" panose="020B0502040204020203" charset="0"/>
              <a:ea typeface="Montserrat"/>
              <a:cs typeface="Segoe UI Emoji" panose="020B0502040204020203" charset="0"/>
              <a:sym typeface="Montserrat"/>
            </a:endParaRPr>
          </a:p>
        </p:txBody>
      </p:sp>
      <p:sp>
        <p:nvSpPr>
          <p:cNvPr id="112" name="Google Shape;112;p20"/>
          <p:cNvSpPr txBox="1"/>
          <p:nvPr>
            <p:ph type="body" idx="1"/>
          </p:nvPr>
        </p:nvSpPr>
        <p:spPr>
          <a:xfrm>
            <a:off x="311785" y="1152525"/>
            <a:ext cx="5193665" cy="2597785"/>
          </a:xfrm>
          <a:prstGeom prst="rect">
            <a:avLst/>
          </a:prstGeom>
        </p:spPr>
        <p:txBody>
          <a:bodyPr spcFirstLastPara="1" wrap="square" lIns="91425" tIns="91425" rIns="91425" bIns="91425" anchor="t" anchorCtr="0">
            <a:normAutofit/>
          </a:bodyPr>
          <a:lstStyle/>
          <a:p>
            <a:pPr marL="0" lvl="0" indent="457200" algn="l" rtl="0">
              <a:spcBef>
                <a:spcPts val="0"/>
              </a:spcBef>
              <a:spcAft>
                <a:spcPts val="0"/>
              </a:spcAft>
              <a:buNone/>
            </a:pPr>
            <a:r>
              <a:rPr lang="en-US" altLang="en-US" sz="1600">
                <a:solidFill>
                  <a:schemeClr val="tx1"/>
                </a:solidFill>
                <a:latin typeface="Segoe UI Emoji" panose="020B0502040204020203" charset="0"/>
                <a:cs typeface="Segoe UI Emoji" panose="020B0502040204020203" charset="0"/>
                <a:sym typeface="+mn-ea"/>
              </a:rPr>
              <a:t>Une veille technologique a été réalisée tout au long du projet afin de nourrir les réflexions techniques et méthodologiques.</a:t>
            </a:r>
            <a:endParaRPr lang="en-US" altLang="en-US" sz="1600">
              <a:solidFill>
                <a:schemeClr val="tx1"/>
              </a:solidFill>
              <a:latin typeface="Segoe UI Emoji" panose="020B0502040204020203" charset="0"/>
              <a:cs typeface="Segoe UI Emoji" panose="020B0502040204020203" charset="0"/>
              <a:sym typeface="+mn-ea"/>
            </a:endParaRPr>
          </a:p>
          <a:p>
            <a:pPr marL="0" lvl="0" indent="457200" algn="l" rtl="0">
              <a:spcBef>
                <a:spcPts val="0"/>
              </a:spcBef>
              <a:spcAft>
                <a:spcPts val="0"/>
              </a:spcAft>
              <a:buNone/>
            </a:pPr>
            <a:endParaRPr lang="en-US" altLang="en-US" sz="1600">
              <a:solidFill>
                <a:schemeClr val="tx1"/>
              </a:solidFill>
              <a:latin typeface="Segoe UI Emoji" panose="020B0502040204020203" charset="0"/>
              <a:cs typeface="Segoe UI Emoji" panose="020B0502040204020203" charset="0"/>
            </a:endParaRPr>
          </a:p>
          <a:p>
            <a:pPr marL="0" lvl="0" indent="457200" algn="l" rtl="0">
              <a:spcBef>
                <a:spcPts val="0"/>
              </a:spcBef>
              <a:spcAft>
                <a:spcPts val="0"/>
              </a:spcAft>
              <a:buNone/>
            </a:pPr>
            <a:r>
              <a:rPr lang="en-US" altLang="en-US" sz="1600">
                <a:solidFill>
                  <a:schemeClr val="tx1"/>
                </a:solidFill>
                <a:latin typeface="Segoe UI Emoji" panose="020B0502040204020203" charset="0"/>
                <a:cs typeface="Segoe UI Emoji" panose="020B0502040204020203" charset="0"/>
                <a:sym typeface="+mn-ea"/>
              </a:rPr>
              <a:t>Elle a été organisée autour de deux axes : un premier directement lié au projet Menu Maker, et un second plus général sur le développement web.</a:t>
            </a:r>
            <a:endParaRPr lang="en-US" altLang="en-US" sz="1600">
              <a:solidFill>
                <a:schemeClr val="tx1"/>
              </a:solidFill>
              <a:latin typeface="Segoe UI Emoji" panose="020B0502040204020203" charset="0"/>
              <a:cs typeface="Segoe UI Emoji" panose="020B0502040204020203" charset="0"/>
            </a:endParaRPr>
          </a:p>
          <a:p>
            <a:pPr marL="0" lvl="0" indent="0" algn="l" rtl="0">
              <a:spcBef>
                <a:spcPts val="1200"/>
              </a:spcBef>
              <a:spcAft>
                <a:spcPts val="0"/>
              </a:spcAft>
              <a:buNone/>
            </a:pPr>
            <a:endParaRPr>
              <a:latin typeface="Montserrat"/>
              <a:ea typeface="Montserrat"/>
              <a:cs typeface="Montserrat"/>
              <a:sym typeface="Montserrat"/>
            </a:endParaRPr>
          </a:p>
          <a:p>
            <a:pPr marL="457200" lvl="0" indent="0" algn="l" rtl="0">
              <a:spcBef>
                <a:spcPts val="1200"/>
              </a:spcBef>
              <a:spcAft>
                <a:spcPts val="1200"/>
              </a:spcAft>
              <a:buNone/>
            </a:pPr>
            <a:endParaRPr>
              <a:latin typeface="Montserrat"/>
              <a:ea typeface="Montserrat"/>
              <a:cs typeface="Montserrat"/>
              <a:sym typeface="Montserrat"/>
            </a:endParaRPr>
          </a:p>
        </p:txBody>
      </p:sp>
      <p:pic>
        <p:nvPicPr>
          <p:cNvPr id="4" name="Picture 3"/>
          <p:cNvPicPr>
            <a:picLocks noChangeAspect="1"/>
          </p:cNvPicPr>
          <p:nvPr/>
        </p:nvPicPr>
        <p:blipFill>
          <a:blip r:embed="rId2"/>
          <a:stretch>
            <a:fillRect/>
          </a:stretch>
        </p:blipFill>
        <p:spPr>
          <a:xfrm>
            <a:off x="5925820" y="932180"/>
            <a:ext cx="2898775" cy="1958975"/>
          </a:xfrm>
          <a:prstGeom prst="rect">
            <a:avLst/>
          </a:prstGeom>
        </p:spPr>
      </p:pic>
      <p:pic>
        <p:nvPicPr>
          <p:cNvPr id="3" name="Picture 2"/>
          <p:cNvPicPr>
            <a:picLocks noChangeAspect="1"/>
          </p:cNvPicPr>
          <p:nvPr/>
        </p:nvPicPr>
        <p:blipFill>
          <a:blip r:embed="rId3"/>
          <a:stretch>
            <a:fillRect/>
          </a:stretch>
        </p:blipFill>
        <p:spPr>
          <a:xfrm>
            <a:off x="5494655" y="2891155"/>
            <a:ext cx="3329940" cy="17564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5526405" y="1017905"/>
            <a:ext cx="3307715" cy="3436620"/>
          </a:xfrm>
          <a:prstGeom prst="rect">
            <a:avLst/>
          </a:prstGeom>
        </p:spPr>
      </p:pic>
      <p:pic>
        <p:nvPicPr>
          <p:cNvPr id="5" name="Picture 4"/>
          <p:cNvPicPr>
            <a:picLocks noChangeAspect="1"/>
          </p:cNvPicPr>
          <p:nvPr/>
        </p:nvPicPr>
        <p:blipFill>
          <a:blip r:embed="rId2"/>
          <a:stretch>
            <a:fillRect/>
          </a:stretch>
        </p:blipFill>
        <p:spPr>
          <a:xfrm>
            <a:off x="456565" y="2876550"/>
            <a:ext cx="4362450" cy="1880235"/>
          </a:xfrm>
          <a:prstGeom prst="rect">
            <a:avLst/>
          </a:prstGeom>
        </p:spPr>
      </p:pic>
      <p:sp>
        <p:nvSpPr>
          <p:cNvPr id="6" name="Google Shape;111;p20"/>
          <p:cNvSpPr txBox="1"/>
          <p:nvPr>
            <p:ph type="title"/>
          </p:nvPr>
        </p:nvSpPr>
        <p:spPr>
          <a:xfrm>
            <a:off x="530860" y="445135"/>
            <a:ext cx="2981325" cy="57277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US" sz="2200">
                <a:solidFill>
                  <a:schemeClr val="tx1"/>
                </a:solidFill>
                <a:latin typeface="Segoe UI Emoji" panose="020B0502040204020203" charset="0"/>
                <a:ea typeface="Montserrat"/>
                <a:cs typeface="Segoe UI Emoji" panose="020B0502040204020203" charset="0"/>
                <a:sym typeface="Montserrat"/>
              </a:rPr>
              <a:t>Veille Technologique</a:t>
            </a:r>
            <a:endParaRPr lang="en-US" sz="2200">
              <a:solidFill>
                <a:schemeClr val="tx1"/>
              </a:solidFill>
              <a:latin typeface="Segoe UI Emoji" panose="020B0502040204020203" charset="0"/>
              <a:ea typeface="Montserrat"/>
              <a:cs typeface="Segoe UI Emoji" panose="020B0502040204020203" charset="0"/>
              <a:sym typeface="Montserrat"/>
            </a:endParaRPr>
          </a:p>
        </p:txBody>
      </p:sp>
      <p:pic>
        <p:nvPicPr>
          <p:cNvPr id="7" name="Picture 6"/>
          <p:cNvPicPr>
            <a:picLocks noChangeAspect="1"/>
          </p:cNvPicPr>
          <p:nvPr/>
        </p:nvPicPr>
        <p:blipFill>
          <a:blip r:embed="rId3"/>
          <a:stretch>
            <a:fillRect/>
          </a:stretch>
        </p:blipFill>
        <p:spPr>
          <a:xfrm>
            <a:off x="530860" y="1017905"/>
            <a:ext cx="4575175" cy="16275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591185" y="445135"/>
            <a:ext cx="1635125" cy="57277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US" sz="2200">
                <a:solidFill>
                  <a:schemeClr val="tx1"/>
                </a:solidFill>
                <a:latin typeface="Segoe UI Emoji" panose="020B0502040204020203" charset="0"/>
                <a:ea typeface="Montserrat"/>
                <a:cs typeface="Segoe UI Emoji" panose="020B0502040204020203" charset="0"/>
                <a:sym typeface="Montserrat"/>
              </a:rPr>
              <a:t>Conclusion</a:t>
            </a:r>
            <a:endParaRPr lang="en-US" sz="2200">
              <a:solidFill>
                <a:schemeClr val="tx1"/>
              </a:solidFill>
              <a:latin typeface="Segoe UI Emoji" panose="020B0502040204020203" charset="0"/>
              <a:ea typeface="Montserrat"/>
              <a:cs typeface="Segoe UI Emoji" panose="020B0502040204020203" charset="0"/>
              <a:sym typeface="Montserrat"/>
            </a:endParaRPr>
          </a:p>
        </p:txBody>
      </p:sp>
      <p:sp>
        <p:nvSpPr>
          <p:cNvPr id="122" name="Google Shape;122;p21"/>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1200"/>
              </a:spcBef>
              <a:spcAft>
                <a:spcPts val="0"/>
              </a:spcAft>
              <a:buNone/>
            </a:pPr>
            <a:endParaRPr>
              <a:latin typeface="Montserrat"/>
              <a:ea typeface="Montserrat"/>
              <a:cs typeface="Montserrat"/>
              <a:sym typeface="Montserrat"/>
            </a:endParaRPr>
          </a:p>
          <a:p>
            <a:pPr marL="457200" lvl="0" indent="0" algn="l" rtl="0">
              <a:spcBef>
                <a:spcPts val="1200"/>
              </a:spcBef>
              <a:spcAft>
                <a:spcPts val="1200"/>
              </a:spcAft>
              <a:buNone/>
            </a:pPr>
            <a:endParaRPr>
              <a:latin typeface="Montserrat"/>
              <a:ea typeface="Montserrat"/>
              <a:cs typeface="Montserrat"/>
              <a:sym typeface="Montserrat"/>
            </a:endParaRPr>
          </a:p>
        </p:txBody>
      </p:sp>
      <p:sp>
        <p:nvSpPr>
          <p:cNvPr id="124" name="Google Shape;124;p21"/>
          <p:cNvSpPr txBox="1"/>
          <p:nvPr/>
        </p:nvSpPr>
        <p:spPr>
          <a:xfrm>
            <a:off x="434775" y="1085525"/>
            <a:ext cx="8320500" cy="3409315"/>
          </a:xfrm>
          <a:prstGeom prst="rect">
            <a:avLst/>
          </a:prstGeom>
          <a:noFill/>
          <a:ln>
            <a:noFill/>
          </a:ln>
        </p:spPr>
        <p:txBody>
          <a:bodyPr spcFirstLastPara="1" wrap="square" lIns="91425" tIns="91425" rIns="91425" bIns="91425" anchor="t" anchorCtr="0">
            <a:spAutoFit/>
          </a:bodyPr>
          <a:lstStyle/>
          <a:p>
            <a:pPr marL="114300" lvl="0" indent="457200" algn="l" rtl="0">
              <a:lnSpc>
                <a:spcPct val="115000"/>
              </a:lnSpc>
              <a:spcBef>
                <a:spcPts val="0"/>
              </a:spcBef>
              <a:spcAft>
                <a:spcPts val="0"/>
              </a:spcAft>
              <a:buClr>
                <a:srgbClr val="0D0D0D"/>
              </a:buClr>
              <a:buSzPts val="1800"/>
              <a:buNone/>
            </a:pPr>
            <a:r>
              <a:rPr lang="en-US" altLang="en-US" sz="1600">
                <a:solidFill>
                  <a:schemeClr val="tx1"/>
                </a:solidFill>
                <a:latin typeface="Segoe UI Emoji" panose="020B0502040204020203" charset="0"/>
                <a:ea typeface="Montserrat"/>
                <a:cs typeface="Segoe UI Emoji" panose="020B0502040204020203" charset="0"/>
                <a:sym typeface="Montserrat"/>
              </a:rPr>
              <a:t>Menu Maker </a:t>
            </a:r>
            <a:r>
              <a:rPr lang="fr-FR" altLang="en-US" sz="1600">
                <a:solidFill>
                  <a:schemeClr val="tx1"/>
                </a:solidFill>
                <a:latin typeface="Segoe UI Emoji" panose="020B0502040204020203" charset="0"/>
                <a:ea typeface="Montserrat"/>
                <a:cs typeface="Segoe UI Emoji" panose="020B0502040204020203" charset="0"/>
                <a:sym typeface="Montserrat"/>
              </a:rPr>
              <a:t>: </a:t>
            </a:r>
            <a:r>
              <a:rPr lang="en-US" altLang="en-US" sz="1600">
                <a:solidFill>
                  <a:schemeClr val="tx1"/>
                </a:solidFill>
                <a:latin typeface="Segoe UI Emoji" panose="020B0502040204020203" charset="0"/>
                <a:ea typeface="Montserrat"/>
                <a:cs typeface="Segoe UI Emoji" panose="020B0502040204020203" charset="0"/>
                <a:sym typeface="Montserrat"/>
              </a:rPr>
              <a:t>con</a:t>
            </a:r>
            <a:r>
              <a:rPr lang="en-US" altLang="en-US" sz="1600">
                <a:solidFill>
                  <a:schemeClr val="tx1"/>
                </a:solidFill>
                <a:latin typeface="Segoe UI Emoji" panose="020B0502040204020203" charset="0"/>
                <a:ea typeface="Montserrat"/>
                <a:cs typeface="Segoe UI Emoji" panose="020B0502040204020203" charset="0"/>
                <a:sym typeface="Montserrat"/>
              </a:rPr>
              <a:t>ç</a:t>
            </a:r>
            <a:r>
              <a:rPr lang="en-US" altLang="en-US" sz="1600">
                <a:solidFill>
                  <a:schemeClr val="tx1"/>
                </a:solidFill>
                <a:latin typeface="Segoe UI Emoji" panose="020B0502040204020203" charset="0"/>
                <a:ea typeface="Montserrat"/>
                <a:cs typeface="Segoe UI Emoji" panose="020B0502040204020203" charset="0"/>
                <a:sym typeface="Montserrat"/>
              </a:rPr>
              <a:t>u pour répondre aux besoins des restaurateurs tout en s’inscrivant dans la stratégie de Qwenta.</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114300" lvl="0" indent="0" algn="l" rtl="0">
              <a:lnSpc>
                <a:spcPct val="115000"/>
              </a:lnSpc>
              <a:spcBef>
                <a:spcPts val="0"/>
              </a:spcBef>
              <a:spcAft>
                <a:spcPts val="0"/>
              </a:spcAft>
              <a:buClr>
                <a:srgbClr val="0D0D0D"/>
              </a:buClr>
              <a:buSzPts val="1800"/>
              <a:buNone/>
            </a:pP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114300" lvl="0" indent="457200" algn="l" rtl="0">
              <a:lnSpc>
                <a:spcPct val="115000"/>
              </a:lnSpc>
              <a:spcBef>
                <a:spcPts val="0"/>
              </a:spcBef>
              <a:spcAft>
                <a:spcPts val="0"/>
              </a:spcAft>
              <a:buClr>
                <a:srgbClr val="0D0D0D"/>
              </a:buClr>
              <a:buSzPts val="1800"/>
              <a:buNone/>
            </a:pPr>
            <a:r>
              <a:rPr lang="en-US" altLang="en-US" sz="1600">
                <a:solidFill>
                  <a:schemeClr val="tx1"/>
                </a:solidFill>
                <a:latin typeface="Segoe UI Emoji" panose="020B0502040204020203" charset="0"/>
                <a:ea typeface="Montserrat"/>
                <a:cs typeface="Segoe UI Emoji" panose="020B0502040204020203" charset="0"/>
                <a:sym typeface="Montserrat"/>
              </a:rPr>
              <a:t>Les choix fonctionnels, techniques et méthodologiques visent à garantir une solution simple, évolutive et durable</a:t>
            </a:r>
            <a:r>
              <a:rPr lang="fr-FR" altLang="en-US" sz="1600">
                <a:solidFill>
                  <a:schemeClr val="tx1"/>
                </a:solidFill>
                <a:latin typeface="Segoe UI Emoji" panose="020B0502040204020203" charset="0"/>
                <a:ea typeface="Montserrat"/>
                <a:cs typeface="Segoe UI Emoji" panose="020B0502040204020203" charset="0"/>
                <a:sym typeface="Montserrat"/>
              </a:rPr>
              <a:t>:</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114300" lvl="0" indent="0" algn="l" rtl="0">
              <a:lnSpc>
                <a:spcPct val="115000"/>
              </a:lnSpc>
              <a:spcBef>
                <a:spcPts val="0"/>
              </a:spcBef>
              <a:spcAft>
                <a:spcPts val="0"/>
              </a:spcAft>
              <a:buClr>
                <a:srgbClr val="0D0D0D"/>
              </a:buClr>
              <a:buSzPts val="1800"/>
              <a:buNone/>
            </a:pP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400050" lvl="0" indent="-285750" algn="l" rtl="0">
              <a:lnSpc>
                <a:spcPct val="115000"/>
              </a:lnSpc>
              <a:spcBef>
                <a:spcPts val="0"/>
              </a:spcBef>
              <a:spcAft>
                <a:spcPts val="0"/>
              </a:spcAft>
              <a:buClr>
                <a:srgbClr val="0D0D0D"/>
              </a:buClr>
              <a:buSzPts val="1800"/>
              <a:buFont typeface="Wingdings" panose="05000000000000000000" charset="0"/>
              <a:buChar char="ü"/>
            </a:pPr>
            <a:r>
              <a:rPr lang="en-US" altLang="en-US" sz="1600">
                <a:solidFill>
                  <a:schemeClr val="tx1"/>
                </a:solidFill>
                <a:latin typeface="Segoe UI Emoji" panose="020B0502040204020203" charset="0"/>
                <a:ea typeface="Montserrat"/>
                <a:cs typeface="Segoe UI Emoji" panose="020B0502040204020203" charset="0"/>
                <a:sym typeface="Montserrat"/>
              </a:rPr>
              <a:t>Fonctionnalités centrées sur l’autonomie du restaurateur</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400050" lvl="0" indent="-285750" algn="l" rtl="0">
              <a:lnSpc>
                <a:spcPct val="115000"/>
              </a:lnSpc>
              <a:spcBef>
                <a:spcPts val="0"/>
              </a:spcBef>
              <a:spcAft>
                <a:spcPts val="0"/>
              </a:spcAft>
              <a:buClr>
                <a:srgbClr val="0D0D0D"/>
              </a:buClr>
              <a:buSzPts val="1800"/>
              <a:buFont typeface="Wingdings" panose="05000000000000000000" charset="0"/>
              <a:buChar char="ü"/>
            </a:pPr>
            <a:r>
              <a:rPr lang="en-US" altLang="en-US" sz="1600">
                <a:solidFill>
                  <a:schemeClr val="tx1"/>
                </a:solidFill>
                <a:latin typeface="Segoe UI Emoji" panose="020B0502040204020203" charset="0"/>
                <a:ea typeface="Montserrat"/>
                <a:cs typeface="Segoe UI Emoji" panose="020B0502040204020203" charset="0"/>
                <a:sym typeface="Montserrat"/>
              </a:rPr>
              <a:t>Architecture moderne basée sur React et Firebase</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400050" lvl="0" indent="-285750" algn="l" rtl="0">
              <a:lnSpc>
                <a:spcPct val="115000"/>
              </a:lnSpc>
              <a:spcBef>
                <a:spcPts val="0"/>
              </a:spcBef>
              <a:spcAft>
                <a:spcPts val="0"/>
              </a:spcAft>
              <a:buClr>
                <a:srgbClr val="0D0D0D"/>
              </a:buClr>
              <a:buSzPts val="1800"/>
              <a:buFont typeface="Wingdings" panose="05000000000000000000" charset="0"/>
              <a:buChar char="ü"/>
            </a:pPr>
            <a:r>
              <a:rPr lang="en-US" altLang="en-US" sz="1600">
                <a:solidFill>
                  <a:schemeClr val="tx1"/>
                </a:solidFill>
                <a:latin typeface="Segoe UI Emoji" panose="020B0502040204020203" charset="0"/>
                <a:ea typeface="Montserrat"/>
                <a:cs typeface="Segoe UI Emoji" panose="020B0502040204020203" charset="0"/>
                <a:sym typeface="Montserrat"/>
              </a:rPr>
              <a:t>Organisation Agile favorisant la flexibilité et l’itération</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400050" lvl="0" indent="-285750" algn="l" rtl="0">
              <a:lnSpc>
                <a:spcPct val="115000"/>
              </a:lnSpc>
              <a:spcBef>
                <a:spcPts val="0"/>
              </a:spcBef>
              <a:spcAft>
                <a:spcPts val="0"/>
              </a:spcAft>
              <a:buClr>
                <a:srgbClr val="0D0D0D"/>
              </a:buClr>
              <a:buSzPts val="1800"/>
              <a:buFont typeface="Wingdings" panose="05000000000000000000" charset="0"/>
              <a:buChar char="ü"/>
            </a:pPr>
            <a:r>
              <a:rPr lang="en-US" altLang="en-US" sz="1600">
                <a:solidFill>
                  <a:schemeClr val="tx1"/>
                </a:solidFill>
                <a:latin typeface="Segoe UI Emoji" panose="020B0502040204020203" charset="0"/>
                <a:ea typeface="Montserrat"/>
                <a:cs typeface="Segoe UI Emoji" panose="020B0502040204020203" charset="0"/>
                <a:sym typeface="Montserrat"/>
              </a:rPr>
              <a:t>Veille technologique active pour accompagner l’évolution du projet</a:t>
            </a:r>
            <a:endParaRPr lang="en-US" altLang="en-US" sz="1600">
              <a:solidFill>
                <a:schemeClr val="tx1"/>
              </a:solidFill>
              <a:latin typeface="Segoe UI Emoji" panose="020B0502040204020203" charset="0"/>
              <a:ea typeface="Montserrat"/>
              <a:cs typeface="Segoe UI Emoji" panose="020B0502040204020203" charset="0"/>
              <a:sym typeface="Montserrat"/>
            </a:endParaRPr>
          </a:p>
          <a:p>
            <a:pPr marL="0" lvl="0" indent="0" algn="l" rtl="0">
              <a:spcBef>
                <a:spcPts val="1200"/>
              </a:spcBef>
              <a:spcAft>
                <a:spcPts val="0"/>
              </a:spcAft>
              <a:buNone/>
            </a:pPr>
            <a:endParaRPr lang="en-US" altLang="en-US" sz="1600">
              <a:solidFill>
                <a:schemeClr val="tx1"/>
              </a:solidFill>
              <a:latin typeface="Segoe UI Emoji" panose="020B0502040204020203" charset="0"/>
              <a:ea typeface="Montserrat"/>
              <a:cs typeface="Segoe UI Emoji" panose="020B0502040204020203" charset="0"/>
              <a:sym typeface="Montserrat"/>
            </a:endParaRPr>
          </a:p>
        </p:txBody>
      </p:sp>
      <p:pic>
        <p:nvPicPr>
          <p:cNvPr id="3" name="Picture 2"/>
          <p:cNvPicPr>
            <a:picLocks noChangeAspect="1"/>
          </p:cNvPicPr>
          <p:nvPr/>
        </p:nvPicPr>
        <p:blipFill>
          <a:blip r:embed="rId1"/>
          <a:stretch>
            <a:fillRect/>
          </a:stretch>
        </p:blipFill>
        <p:spPr>
          <a:xfrm>
            <a:off x="6976745" y="2571750"/>
            <a:ext cx="1676400" cy="1539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30" name="Shape 130"/>
        <p:cNvGrpSpPr/>
        <p:nvPr/>
      </p:nvGrpSpPr>
      <p:grpSpPr>
        <a:xfrm>
          <a:off x="0" y="0"/>
          <a:ext cx="0" cy="0"/>
          <a:chOff x="0" y="0"/>
          <a:chExt cx="0" cy="0"/>
        </a:xfrm>
      </p:grpSpPr>
      <p:sp>
        <p:nvSpPr>
          <p:cNvPr id="131" name="Google Shape;131;p22"/>
          <p:cNvSpPr txBox="1"/>
          <p:nvPr/>
        </p:nvSpPr>
        <p:spPr>
          <a:xfrm>
            <a:off x="1563370" y="1344295"/>
            <a:ext cx="6076315" cy="257111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3600" b="1">
                <a:solidFill>
                  <a:schemeClr val="tx1"/>
                </a:solidFill>
                <a:latin typeface="Segoe UI Emoji" panose="020B0502040204020203" charset="0"/>
                <a:ea typeface="Montserrat"/>
                <a:cs typeface="Segoe UI Emoji" panose="020B0502040204020203" charset="0"/>
                <a:sym typeface="Montserrat"/>
              </a:rPr>
              <a:t>Merci de votre attention.</a:t>
            </a:r>
            <a:endParaRPr lang="en-US" altLang="en-US" sz="3600" b="1">
              <a:solidFill>
                <a:schemeClr val="tx1"/>
              </a:solidFill>
              <a:latin typeface="Segoe UI Emoji" panose="020B0502040204020203" charset="0"/>
              <a:ea typeface="Montserrat"/>
              <a:cs typeface="Segoe UI Emoji" panose="020B0502040204020203" charset="0"/>
              <a:sym typeface="Montserrat"/>
            </a:endParaRPr>
          </a:p>
          <a:p>
            <a:pPr marL="0" lvl="0" indent="0" algn="ctr" rtl="0">
              <a:spcBef>
                <a:spcPts val="0"/>
              </a:spcBef>
              <a:spcAft>
                <a:spcPts val="0"/>
              </a:spcAft>
              <a:buNone/>
            </a:pPr>
            <a:endParaRPr lang="en-US" altLang="en-US" sz="3600" b="1">
              <a:solidFill>
                <a:schemeClr val="tx1"/>
              </a:solidFill>
              <a:latin typeface="Segoe UI Emoji" panose="020B0502040204020203" charset="0"/>
              <a:ea typeface="Montserrat"/>
              <a:cs typeface="Segoe UI Emoji" panose="020B0502040204020203" charset="0"/>
              <a:sym typeface="Montserrat"/>
            </a:endParaRPr>
          </a:p>
          <a:p>
            <a:pPr marL="0" lvl="0" indent="0" algn="ctr" rtl="0">
              <a:spcBef>
                <a:spcPts val="0"/>
              </a:spcBef>
              <a:spcAft>
                <a:spcPts val="0"/>
              </a:spcAft>
              <a:buNone/>
            </a:pPr>
            <a:r>
              <a:rPr lang="en-US" altLang="en-US" sz="2200">
                <a:solidFill>
                  <a:schemeClr val="tx1"/>
                </a:solidFill>
                <a:latin typeface="Segoe UI Emoji" panose="020B0502040204020203" charset="0"/>
                <a:ea typeface="Montserrat"/>
                <a:cs typeface="Segoe UI Emoji" panose="020B0502040204020203" charset="0"/>
                <a:sym typeface="Montserrat"/>
              </a:rPr>
              <a:t>Je suis à votre disposition pour vos questions.</a:t>
            </a:r>
            <a:endParaRPr lang="en-US" altLang="en-US" sz="2200">
              <a:solidFill>
                <a:schemeClr val="tx1"/>
              </a:solidFill>
              <a:latin typeface="Segoe UI Emoji" panose="020B0502040204020203" charset="0"/>
              <a:ea typeface="Montserrat"/>
              <a:cs typeface="Segoe UI Emoji" panose="020B0502040204020203" charset="0"/>
              <a:sym typeface="Montserrat"/>
            </a:endParaRPr>
          </a:p>
        </p:txBody>
      </p:sp>
      <p:sp>
        <p:nvSpPr>
          <p:cNvPr id="132" name="Google Shape;132;p22"/>
          <p:cNvSpPr txBox="1"/>
          <p:nvPr/>
        </p:nvSpPr>
        <p:spPr>
          <a:xfrm>
            <a:off x="115175" y="118275"/>
            <a:ext cx="238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1"/>
              </a:solidFill>
              <a:latin typeface="Montserrat"/>
              <a:ea typeface="Montserrat"/>
              <a:cs typeface="Montserrat"/>
              <a:sym typeface="Montserrat"/>
            </a:endParaRPr>
          </a:p>
        </p:txBody>
      </p:sp>
      <p:pic>
        <p:nvPicPr>
          <p:cNvPr id="133" name="Google Shape;133;p22"/>
          <p:cNvPicPr preferRelativeResize="0"/>
          <p:nvPr/>
        </p:nvPicPr>
        <p:blipFill>
          <a:blip r:embed="rId1"/>
          <a:stretch>
            <a:fillRect/>
          </a:stretch>
        </p:blipFill>
        <p:spPr>
          <a:xfrm>
            <a:off x="8469575" y="-4"/>
            <a:ext cx="674425" cy="3405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3408</Words>
  <Application>WPS Presentation</Application>
  <PresentationFormat/>
  <Paragraphs>107</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13</vt:i4>
      </vt:variant>
    </vt:vector>
  </HeadingPairs>
  <TitlesOfParts>
    <vt:vector size="26" baseType="lpstr">
      <vt:lpstr>Arial</vt:lpstr>
      <vt:lpstr>SimSun</vt:lpstr>
      <vt:lpstr>Wingdings</vt:lpstr>
      <vt:lpstr>Arial</vt:lpstr>
      <vt:lpstr>Segoe UI Emoji</vt:lpstr>
      <vt:lpstr>Montserrat</vt:lpstr>
      <vt:lpstr>Wingdings</vt:lpstr>
      <vt:lpstr>Microsoft YaHei</vt:lpstr>
      <vt:lpstr>Arial Unicode MS</vt:lpstr>
      <vt:lpstr>Calibri Light</vt:lpstr>
      <vt:lpstr>Calibri</vt:lpstr>
      <vt:lpstr>Simple Light</vt:lpstr>
      <vt:lpstr>Custom Design</vt:lpstr>
      <vt:lpstr>PowerPoint 演示文稿</vt:lpstr>
      <vt:lpstr>Sommaire</vt:lpstr>
      <vt:lpstr>PowerPoint 演示文稿</vt:lpstr>
      <vt:lpstr>PowerPoint 演示文稿</vt:lpstr>
      <vt:lpstr>Création et gestion du menu</vt:lpstr>
      <vt:lpstr>Méthodologie Agile et Scrum</vt:lpstr>
      <vt:lpstr>Tableau Kanban </vt:lpstr>
      <vt:lpstr>Principales spécifications techniques</vt:lpstr>
      <vt:lpstr>Architecture de gestion des menus</vt:lpstr>
      <vt:lpstr>Veille Technologique</vt:lpstr>
      <vt:lpstr>Veille Technologique</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Angela Ruecker</cp:lastModifiedBy>
  <cp:revision>16</cp:revision>
  <dcterms:created xsi:type="dcterms:W3CDTF">2025-12-27T21:13:00Z</dcterms:created>
  <dcterms:modified xsi:type="dcterms:W3CDTF">2026-01-14T10:07:18Z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4598BC079254406F98367E6971D208FF_13</vt:lpwstr>
  </property>
  <property fmtid="{D5CDD505-2E9C-101B-9397-08002B2CF9AE}" pid="3" name="KSOProductBuildVer">
    <vt:lpwstr>1033-12.2.0.21931</vt:lpwstr>
  </property>
</Properties>
</file>